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73" r:id="rId25"/>
    <p:sldId id="268" r:id="rId20"/>
    <p:sldId id="269" r:id="rId21"/>
    <p:sldId id="270" r:id="rId22"/>
    <p:sldId id="271" r:id="rId23"/>
    <p:sldId id="272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repeating the promise on the paper: not an exam, not on any report. Say it before any numbers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students, 36 items each, 180 answers in total. Blank answers count as 'not yet'.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out: the class already knows a lot about Unit 2 vocabulary and Unit 6 sport words. Grammar in Units 3 and 6 is the big 'not yet'. Months are approximate.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Orange rows: 2 or fewer of the class got it right. These are the Unit 1 targets for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Orange rows: 2 or fewer of the class got it right. These are the Unit 2 targets for Oct to Nov.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Orange rows: 2 or fewer of the class got it right. These are the Unit 3 targets for Dec to Jan.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Orange rows: 2 or fewer of the class got it right. These are the Unit 4 targets for Feb to 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Orange rows: 2 or fewer of the class got it right. These are the Unit 5 targets for Mar to Apr.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Orange rows: 2 or fewer of the class got it right. These are the Unit 6 targets for May to Jun.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Spanish speakers say 'vivimos aquí desde 2019' (present) and 'si tuviera' feels far from 'if I had'. Both are classic L1 transfers, so this is normal, not a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Timings are an estimate (Split A, Units 1 to 6, spread across the course). Adjust if the pace changes. Repeating the ladder in June is a suggestion, only say it if you plan to do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Names only appear if you click a card. With five students, scores can still be guessed, so only open a card with that student's OK, or show it to them privately at the end. The detail slides are hidden and never appear when you just click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Alejandra: 27/36. Targets are the first three items they missed, in course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Sergio: 13/36. Targets are the first three items they missed, in course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Maya: 29/36. Targets are the first three items they missed, in course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Álvaro: 16/36. Targets are the first three items they missed, in course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Valeria: 30/36. Targets are the first three items they missed, in course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Hand-off into Unit 1 Block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Relationship Id="rId4" Type="http://schemas.openxmlformats.org/officeDocument/2006/relationships/slide" Target="slide13.xml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2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2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2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2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2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051560"/>
            <a:ext cx="2011680" cy="3657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6BAE2E"/>
                </a:solidFill>
                <a:latin typeface="Arial"/>
              </a:rPr>
              <a:t>PET I  ·  WEDNESDAY  ·  B1 PRELIMINARY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804672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600" b="1" i="0">
                <a:solidFill>
                  <a:srgbClr val="222222"/>
                </a:solidFill>
                <a:latin typeface="Georgia"/>
              </a:rPr>
              <a:t>The Level Ladder: your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77724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0" i="1">
                <a:solidFill>
                  <a:srgbClr val="777777"/>
                </a:solidFill>
                <a:latin typeface="Georgia"/>
              </a:rPr>
              <a:t>What you already know, what you don't know yet, and when we will learn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11880"/>
            <a:ext cx="7863840" cy="82296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7498079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3F6E17"/>
                </a:solidFill>
                <a:latin typeface="Arial"/>
              </a:rPr>
              <a:t>Remember: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this was not an exam. It covered the whole year, so most of it we have not taught yet. Every mistake here is just a map of where we are going.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How the Level Ladder worked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PET I  ·  The Level Ladder, 9 Sep 2026  ·  Somerset Language Centre, Valencia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60604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60604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6000" b="1" i="0">
                <a:solidFill>
                  <a:srgbClr val="6BAE2E"/>
                </a:solidFill>
                <a:latin typeface="Georgia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2606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000" b="1" i="0">
                <a:solidFill>
                  <a:srgbClr val="222222"/>
                </a:solidFill>
                <a:latin typeface="Arial"/>
              </a:rPr>
              <a:t>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14884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777777"/>
                </a:solidFill>
                <a:latin typeface="Arial"/>
              </a:rPr>
              <a:t>Six in each part.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4408" y="1234440"/>
            <a:ext cx="260604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1417320"/>
            <a:ext cx="260604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6000" b="1" i="0">
                <a:solidFill>
                  <a:srgbClr val="6BAE2E"/>
                </a:solidFill>
                <a:latin typeface="Georgia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468880"/>
            <a:ext cx="2606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000" b="1" i="0">
                <a:solidFill>
                  <a:srgbClr val="222222"/>
                </a:solidFill>
                <a:latin typeface="Arial"/>
              </a:rPr>
              <a:t>parts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017520"/>
            <a:ext cx="214884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777777"/>
                </a:solidFill>
                <a:latin typeface="Arial"/>
              </a:rPr>
              <a:t>One part for each unit we will study this year.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71616" y="1234440"/>
            <a:ext cx="260604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417320"/>
            <a:ext cx="260604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6000" b="1" i="0">
                <a:solidFill>
                  <a:srgbClr val="6BAE2E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2468880"/>
            <a:ext cx="2606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000" b="1" i="0">
                <a:solidFill>
                  <a:srgbClr val="222222"/>
                </a:solidFill>
                <a:latin typeface="Arial"/>
              </a:rPr>
              <a:t>unit so far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3017520"/>
            <a:ext cx="214884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777777"/>
                </a:solidFill>
                <a:latin typeface="Arial"/>
              </a:rPr>
              <a:t>We started Unit 1 today. Units 2 to 6 are still to come.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How the class did, unit by unit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THE WHOLE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PET I  ·  The Level Ladder, 9 Sep 2026  ·  Somerset Language Centre, Valencia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Correct answers from all five of you together (30 per unit). Unit 1 is where we are now.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3017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3F6E17"/>
                </a:solidFill>
                <a:latin typeface="Arial"/>
              </a:rPr>
              <a:t>Unit 1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Perfect for the job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91640"/>
            <a:ext cx="3291840" cy="246888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91640"/>
            <a:ext cx="2414015" cy="246888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600200"/>
            <a:ext cx="731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73%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664208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6BAE2E"/>
          </a:solidFill>
          <a:ln w="1270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664208"/>
            <a:ext cx="118872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03120"/>
            <a:ext cx="3017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3F6E17"/>
                </a:solidFill>
                <a:latin typeface="Arial"/>
              </a:rPr>
              <a:t>Unit 2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Delicious!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194560"/>
            <a:ext cx="3291840" cy="246888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2194560"/>
            <a:ext cx="2084831" cy="246888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103120"/>
            <a:ext cx="731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63%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67127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2167127"/>
            <a:ext cx="118872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3F6E17"/>
                </a:solidFill>
                <a:latin typeface="Arial"/>
              </a:rPr>
              <a:t>Oct to Nov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606040"/>
            <a:ext cx="3017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3F6E17"/>
                </a:solidFill>
                <a:latin typeface="Arial"/>
              </a:rPr>
              <a:t>Unit 3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It's natural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2697480"/>
            <a:ext cx="3291840" cy="246888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0" y="2697480"/>
            <a:ext cx="1865376" cy="246888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606040"/>
            <a:ext cx="731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57%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670048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2670048"/>
            <a:ext cx="118872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3F6E17"/>
                </a:solidFill>
                <a:latin typeface="Arial"/>
              </a:rPr>
              <a:t>Dec to Jan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108960"/>
            <a:ext cx="3017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3F6E17"/>
                </a:solidFill>
                <a:latin typeface="Arial"/>
              </a:rPr>
              <a:t>Unit 4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That's the fashion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3200400"/>
            <a:ext cx="3291840" cy="246888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0" y="3200400"/>
            <a:ext cx="1865376" cy="246888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3108960"/>
            <a:ext cx="731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57%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3172968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3172968"/>
            <a:ext cx="118872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3F6E17"/>
                </a:solidFill>
                <a:latin typeface="Arial"/>
              </a:rPr>
              <a:t>Feb to Mar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611880"/>
            <a:ext cx="3017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3F6E17"/>
                </a:solidFill>
                <a:latin typeface="Arial"/>
              </a:rPr>
              <a:t>Unit 5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Where we live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3703320"/>
            <a:ext cx="3291840" cy="246888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74720" y="3703320"/>
            <a:ext cx="2084831" cy="246888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3611880"/>
            <a:ext cx="731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63%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35240" y="3675888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3675888"/>
            <a:ext cx="118872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3F6E17"/>
                </a:solidFill>
                <a:latin typeface="Arial"/>
              </a:rPr>
              <a:t>Mar to Apr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114800"/>
            <a:ext cx="3017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3F6E17"/>
                </a:solidFill>
                <a:latin typeface="Arial"/>
              </a:rPr>
              <a:t>Unit 6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Go for it!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4206240"/>
            <a:ext cx="3291840" cy="246888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74720" y="4206240"/>
            <a:ext cx="2304288" cy="246888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4114800"/>
            <a:ext cx="731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70%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35240" y="4178808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4178808"/>
            <a:ext cx="118872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3F6E17"/>
                </a:solidFill>
                <a:latin typeface="Arial"/>
              </a:rPr>
              <a:t>May to Jun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Unit 1: Perfect for the job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PART 1 OF THE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PET I  ·  The Level Ladder, 9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4231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WE LEARN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Georgia"/>
              </a:rPr>
              <a:t>Now,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2103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present simple and continuous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CLASS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6BAE2E"/>
                </a:solidFill>
                <a:latin typeface="Georgia"/>
              </a:rPr>
              <a:t>22 /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024128"/>
            <a:ext cx="4114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  <a:latin typeface="Arial"/>
              </a:rPr>
              <a:t>The correct answer is in green.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024128"/>
            <a:ext cx="1645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  <a:latin typeface="Arial"/>
              </a:rPr>
              <a:t>got it right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129844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29844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My cousin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works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in a café in Ruzafa every Saturday.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present simple: routine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0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25512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35824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46136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56448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57276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 of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1874519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1874519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Be quiet! The baby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is sleeping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at the moment.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present continuous: now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0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25512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35824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46136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56448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2148839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 of 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2450591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2450591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3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I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like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this jacket. It's perfect.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stative verbs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0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25512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735824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46136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56448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2724911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 of 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26080" y="3026664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3026664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4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She usually cycles, but this week she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is taking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the metro.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temporary situation</a:t>
            </a:r>
          </a:p>
        </p:txBody>
      </p:sp>
      <p:sp>
        <p:nvSpPr>
          <p:cNvPr id="43" name="Oval 42"/>
          <p:cNvSpPr/>
          <p:nvPr/>
        </p:nvSpPr>
        <p:spPr>
          <a:xfrm>
            <a:off x="7315200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525512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735824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946136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156448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0" y="3300984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1 of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3291840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26080" y="3602736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17520" y="3602736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5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A person who designs buildings is an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architect</a:t>
            </a:r>
            <a:r>
              <a:rPr sz="1200" b="0" i="0">
                <a:solidFill>
                  <a:srgbClr val="222222"/>
                </a:solidFill>
                <a:latin typeface="Arial"/>
              </a:rPr>
              <a:t>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jobs</a:t>
            </a:r>
          </a:p>
        </p:txBody>
      </p:sp>
      <p:sp>
        <p:nvSpPr>
          <p:cNvPr id="52" name="Oval 51"/>
          <p:cNvSpPr/>
          <p:nvPr/>
        </p:nvSpPr>
        <p:spPr>
          <a:xfrm>
            <a:off x="7315200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525512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35824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946136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156448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0" y="3877056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 of 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926080" y="417880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17520" y="417880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6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Marta always arrives when she says she will. She is very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reliable</a:t>
            </a:r>
            <a:r>
              <a:rPr sz="1200" b="0" i="0">
                <a:solidFill>
                  <a:srgbClr val="222222"/>
                </a:solidFill>
                <a:latin typeface="Arial"/>
              </a:rPr>
              <a:t>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personality</a:t>
            </a:r>
          </a:p>
        </p:txBody>
      </p:sp>
      <p:sp>
        <p:nvSpPr>
          <p:cNvPr id="60" name="Oval 59"/>
          <p:cNvSpPr/>
          <p:nvPr/>
        </p:nvSpPr>
        <p:spPr>
          <a:xfrm>
            <a:off x="7315200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525512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735824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46136" y="428853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156448" y="428853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0" y="445312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Unit 2: Delicious!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PART 2 OF THE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PET I  ·  The Level Ladder, 9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4231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WE LEARN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Georgia"/>
              </a:rPr>
              <a:t>Oct to Nov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2103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past simple, past continuous, used 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CLASS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6BAE2E"/>
                </a:solidFill>
                <a:latin typeface="Georgia"/>
              </a:rPr>
              <a:t>19 /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024128"/>
            <a:ext cx="4114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  <a:latin typeface="Arial"/>
              </a:rPr>
              <a:t>The correct answer is in green.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024128"/>
            <a:ext cx="1645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  <a:latin typeface="Arial"/>
              </a:rPr>
              <a:t>got it right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129844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29844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7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Last summer we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ate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paella near the Albufera.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past simple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0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25512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35824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46136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56448" y="140817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57276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4 of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1874519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1874519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8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I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was cooking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dinner when the phone rang.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past continuous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0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25512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35824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46136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56448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2148839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4 of 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2450591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2450591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9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While my father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was chopping</a:t>
            </a:r>
            <a:r>
              <a:rPr sz="1200" b="0" i="0">
                <a:solidFill>
                  <a:srgbClr val="222222"/>
                </a:solidFill>
                <a:latin typeface="Arial"/>
              </a:rPr>
              <a:t>, my mother was setting the table.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two actions in progress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0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25512" y="2560320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735824" y="2560320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46136" y="2560320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56448" y="2560320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2724911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1 of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2715768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26080" y="3026664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17520" y="3026664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10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When I was small, I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used to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hate vegetables.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used to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0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525512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35824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946136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156448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0" y="3300984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 of 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26080" y="3602736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17520" y="3602736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11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Lemons are very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sour</a:t>
            </a:r>
            <a:r>
              <a:rPr sz="1200" b="0" i="0">
                <a:solidFill>
                  <a:srgbClr val="222222"/>
                </a:solidFill>
                <a:latin typeface="Arial"/>
              </a:rPr>
              <a:t>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taste</a:t>
            </a:r>
          </a:p>
        </p:txBody>
      </p:sp>
      <p:sp>
        <p:nvSpPr>
          <p:cNvPr id="52" name="Oval 51"/>
          <p:cNvSpPr/>
          <p:nvPr/>
        </p:nvSpPr>
        <p:spPr>
          <a:xfrm>
            <a:off x="7315200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525512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35824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946136" y="3712463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156448" y="3712463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0" y="3877056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 of 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926080" y="417880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17520" y="417880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12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Please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pour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the milk into the jug.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cooking verbs</a:t>
            </a:r>
          </a:p>
        </p:txBody>
      </p:sp>
      <p:sp>
        <p:nvSpPr>
          <p:cNvPr id="60" name="Oval 59"/>
          <p:cNvSpPr/>
          <p:nvPr/>
        </p:nvSpPr>
        <p:spPr>
          <a:xfrm>
            <a:off x="7315200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525512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735824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46136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156448" y="428853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0" y="445312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4 of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Unit 3: It's natural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PART 3 OF THE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PET I  ·  The Level Ladder, 9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4231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WE LEARN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Georgia"/>
              </a:rPr>
              <a:t>Dec to Jan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2103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present perfect, articles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CLASS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6BAE2E"/>
                </a:solidFill>
                <a:latin typeface="Georgia"/>
              </a:rPr>
              <a:t>17 /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024128"/>
            <a:ext cx="4114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  <a:latin typeface="Arial"/>
              </a:rPr>
              <a:t>The correct answer is in green.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024128"/>
            <a:ext cx="1645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  <a:latin typeface="Arial"/>
              </a:rPr>
              <a:t>got it right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129844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29844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13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I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have never been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to the Bioparc.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present perfect: experience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0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25512" y="140817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35824" y="140817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46136" y="140817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56448" y="140817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57276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1 of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1563624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1874519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0" y="1874519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14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We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have lived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in this flat since 2019.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present perfect + since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0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25512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35824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46136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56448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2148839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0 of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2139696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26080" y="2450591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2450591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15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My eyes hurt. I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have been looking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at this screen for three hours.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present perfect continuous</a:t>
            </a:r>
          </a:p>
        </p:txBody>
      </p:sp>
      <p:sp>
        <p:nvSpPr>
          <p:cNvPr id="37" name="Oval 36"/>
          <p:cNvSpPr/>
          <p:nvPr/>
        </p:nvSpPr>
        <p:spPr>
          <a:xfrm>
            <a:off x="7315200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525512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35824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46136" y="2560320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156448" y="2560320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0" y="2724911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 of 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26080" y="3026664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0" y="3026664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16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The Turia is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an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old river bed that crosses Valencia.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articles</a:t>
            </a:r>
          </a:p>
        </p:txBody>
      </p:sp>
      <p:sp>
        <p:nvSpPr>
          <p:cNvPr id="45" name="Oval 44"/>
          <p:cNvSpPr/>
          <p:nvPr/>
        </p:nvSpPr>
        <p:spPr>
          <a:xfrm>
            <a:off x="7315200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525512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735824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46136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156448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0" y="3300984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 of 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26080" y="3602736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17520" y="3602736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17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A very large mass of ice that moves slowly is a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glacier</a:t>
            </a:r>
            <a:r>
              <a:rPr sz="1200" b="0" i="0">
                <a:solidFill>
                  <a:srgbClr val="222222"/>
                </a:solidFill>
                <a:latin typeface="Arial"/>
              </a:rPr>
              <a:t>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geography</a:t>
            </a:r>
          </a:p>
        </p:txBody>
      </p:sp>
      <p:sp>
        <p:nvSpPr>
          <p:cNvPr id="53" name="Oval 52"/>
          <p:cNvSpPr/>
          <p:nvPr/>
        </p:nvSpPr>
        <p:spPr>
          <a:xfrm>
            <a:off x="7315200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525512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735824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46136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156448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0" y="3877056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 of 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926080" y="417880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17520" y="417880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18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Wind and solar power are types of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renewable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energy.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environment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0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525512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735824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946136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156448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0" y="445312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 of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Unit 4: That's the fashion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PART 4 OF THE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PET I  ·  The Level Ladder, 9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4231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WE LEARN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Georgia"/>
              </a:rPr>
              <a:t>Feb to 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2103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relative clauses, time clauses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CLASS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6BAE2E"/>
                </a:solidFill>
                <a:latin typeface="Georgia"/>
              </a:rPr>
              <a:t>17 /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024128"/>
            <a:ext cx="4114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  <a:latin typeface="Arial"/>
              </a:rPr>
              <a:t>The correct answer is in green.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024128"/>
            <a:ext cx="1645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  <a:latin typeface="Arial"/>
              </a:rPr>
              <a:t>got it right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129844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29844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19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That's the shop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which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sells second-hand jackets.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which for things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0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25512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35824" y="140817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46136" y="140817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56448" y="140817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57276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2 of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1563624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1874519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0" y="1874519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20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He's the boy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whose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sister works at the Central Market.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whose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0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25512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35824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46136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56448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2148839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 of 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26080" y="2450591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20" y="2450591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21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El Cabanyal,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which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is near the beach, has changed a lot.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extra information</a:t>
            </a:r>
          </a:p>
        </p:txBody>
      </p:sp>
      <p:sp>
        <p:nvSpPr>
          <p:cNvPr id="36" name="Oval 35"/>
          <p:cNvSpPr/>
          <p:nvPr/>
        </p:nvSpPr>
        <p:spPr>
          <a:xfrm>
            <a:off x="7315200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525512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735824" y="2560320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946136" y="2560320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56448" y="2560320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2724911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2 of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2715768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26080" y="3026664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0" y="3026664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22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I'll call you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as soon as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I get home.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time clauses</a:t>
            </a:r>
          </a:p>
        </p:txBody>
      </p:sp>
      <p:sp>
        <p:nvSpPr>
          <p:cNvPr id="45" name="Oval 44"/>
          <p:cNvSpPr/>
          <p:nvPr/>
        </p:nvSpPr>
        <p:spPr>
          <a:xfrm>
            <a:off x="7315200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525512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735824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46136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156448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0" y="3300984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 of 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26080" y="3602736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17520" y="3602736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23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These gloves are made of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leather</a:t>
            </a:r>
            <a:r>
              <a:rPr sz="1200" b="0" i="0">
                <a:solidFill>
                  <a:srgbClr val="222222"/>
                </a:solidFill>
                <a:latin typeface="Arial"/>
              </a:rPr>
              <a:t>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materials</a:t>
            </a:r>
          </a:p>
        </p:txBody>
      </p:sp>
      <p:sp>
        <p:nvSpPr>
          <p:cNvPr id="53" name="Oval 52"/>
          <p:cNvSpPr/>
          <p:nvPr/>
        </p:nvSpPr>
        <p:spPr>
          <a:xfrm>
            <a:off x="7315200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525512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735824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46136" y="3712463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156448" y="3712463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0" y="3877056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 of 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926080" y="417880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17520" y="417880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24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Keep the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receipt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in case you want to return the shirt.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shopping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0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525512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735824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946136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156448" y="428853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0" y="445312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4 of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Unit 5: Where we live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PART 5 OF THE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PET I  ·  The Level Ladder, 9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4231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WE LEARN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Georgia"/>
              </a:rPr>
              <a:t>Mar to Apr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2103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will, going to, future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CLASS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6BAE2E"/>
                </a:solidFill>
                <a:latin typeface="Georgia"/>
              </a:rPr>
              <a:t>19 /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024128"/>
            <a:ext cx="4114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  <a:latin typeface="Arial"/>
              </a:rPr>
              <a:t>The correct answer is in green.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024128"/>
            <a:ext cx="1645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  <a:latin typeface="Arial"/>
              </a:rPr>
              <a:t>got it right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129844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29844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25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We've decided: we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are going to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move to a bigger flat in June.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going to: plans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0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25512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35824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46136" y="140817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56448" y="140817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57276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 of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1874519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1874519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26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That bag looks heavy.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I'll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carry it for you.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will: offers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0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25512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35824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46136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56448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2148839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 of 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2450591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2450591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27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Look at those clouds. It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is going to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rain.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going to: evidence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0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25512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735824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46136" y="2560320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56448" y="2560320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2724911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 of 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26080" y="3026664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3026664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28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I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am seeing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the dentist at four o'clock tomorrow.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arrangements</a:t>
            </a:r>
          </a:p>
        </p:txBody>
      </p:sp>
      <p:sp>
        <p:nvSpPr>
          <p:cNvPr id="43" name="Oval 42"/>
          <p:cNvSpPr/>
          <p:nvPr/>
        </p:nvSpPr>
        <p:spPr>
          <a:xfrm>
            <a:off x="7315200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525512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735824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946136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156448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0" y="3300984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2 of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3291840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26080" y="3602736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17520" y="3602736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29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You hang your clothes in a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wardrobe</a:t>
            </a:r>
            <a:r>
              <a:rPr sz="1200" b="0" i="0">
                <a:solidFill>
                  <a:srgbClr val="222222"/>
                </a:solidFill>
                <a:latin typeface="Arial"/>
              </a:rPr>
              <a:t>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household objects</a:t>
            </a:r>
          </a:p>
        </p:txBody>
      </p:sp>
      <p:sp>
        <p:nvSpPr>
          <p:cNvPr id="52" name="Oval 51"/>
          <p:cNvSpPr/>
          <p:nvPr/>
        </p:nvSpPr>
        <p:spPr>
          <a:xfrm>
            <a:off x="7315200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525512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35824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946136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156448" y="3712463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0" y="3877056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4 of 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926080" y="417880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17520" y="417880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30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My family is going to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move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house next year.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home expressions</a:t>
            </a:r>
          </a:p>
        </p:txBody>
      </p:sp>
      <p:sp>
        <p:nvSpPr>
          <p:cNvPr id="60" name="Oval 59"/>
          <p:cNvSpPr/>
          <p:nvPr/>
        </p:nvSpPr>
        <p:spPr>
          <a:xfrm>
            <a:off x="7315200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525512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735824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46136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156448" y="428853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0" y="445312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4 of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Unit 6: Go for it!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PART 6 OF THE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PET I  ·  The Level Ladder, 9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4231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WE LEARN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Georgia"/>
              </a:rPr>
              <a:t>May to Jun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2103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conditionals, unless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CLASS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6BAE2E"/>
                </a:solidFill>
                <a:latin typeface="Georgia"/>
              </a:rPr>
              <a:t>21 /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024128"/>
            <a:ext cx="4114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  <a:latin typeface="Arial"/>
              </a:rPr>
              <a:t>The correct answer is in green.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024128"/>
            <a:ext cx="1645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  <a:latin typeface="Arial"/>
              </a:rPr>
              <a:t>got it right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129844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29844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31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If you heat water to 100 degrees, it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boils</a:t>
            </a:r>
            <a:r>
              <a:rPr sz="1200" b="0" i="0">
                <a:solidFill>
                  <a:srgbClr val="222222"/>
                </a:solidFill>
                <a:latin typeface="Arial"/>
              </a:rPr>
              <a:t>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zero conditional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0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25512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35824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46136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56448" y="140817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57276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4 of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1874519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1874519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32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If Valencia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wins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on Sunday, they will go top of the league.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first conditional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0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25512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35824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46136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56448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2148839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 of 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2450591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2450591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33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You can't enter the competition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unless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you are sixteen.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unless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0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25512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735824" y="2560320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46136" y="2560320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56448" y="2560320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2724911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2 of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2715768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26080" y="3026664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17520" y="3026664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34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If I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had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more time, I would train every day.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second conditional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0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525512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35824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946136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156448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0" y="3300984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0 of 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2440" y="3291840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26080" y="3602736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17520" y="3602736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35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You must wear a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helmet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when you cycle.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sports equipment</a:t>
            </a:r>
          </a:p>
        </p:txBody>
      </p:sp>
      <p:sp>
        <p:nvSpPr>
          <p:cNvPr id="53" name="Oval 52"/>
          <p:cNvSpPr/>
          <p:nvPr/>
        </p:nvSpPr>
        <p:spPr>
          <a:xfrm>
            <a:off x="7315200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525512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735824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46136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156448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0" y="3877056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 of 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926080" y="417880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17520" y="417880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36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The person who trains a team is the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coach</a:t>
            </a:r>
            <a:r>
              <a:rPr sz="1200" b="0" i="0">
                <a:solidFill>
                  <a:srgbClr val="222222"/>
                </a:solidFill>
                <a:latin typeface="Arial"/>
              </a:rPr>
              <a:t>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sport people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0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525512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735824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946136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156448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0" y="445312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 of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Nobody got these right... yet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THE BIG 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PET I  ·  The Level Ladder, 9 Sep 2026  ·  Somerset Language Centre, Valencia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82296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44168"/>
            <a:ext cx="7680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E08A1E"/>
                </a:solidFill>
                <a:latin typeface="Arial"/>
              </a:rPr>
              <a:t>QUESTION 14  ·  PRESENT PERFECT + SINCE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0" i="0">
                <a:solidFill>
                  <a:srgbClr val="222222"/>
                </a:solidFill>
                <a:latin typeface="Georgia"/>
              </a:rPr>
              <a:t>We </a:t>
            </a:r>
            <a:r>
              <a:rPr sz="2400" b="1" i="0">
                <a:solidFill>
                  <a:srgbClr val="3F6E17"/>
                </a:solidFill>
                <a:latin typeface="Georgia"/>
              </a:rPr>
              <a:t>have lived</a:t>
            </a:r>
            <a:r>
              <a:rPr sz="2400" b="0" i="0">
                <a:solidFill>
                  <a:srgbClr val="222222"/>
                </a:solidFill>
                <a:latin typeface="Georgia"/>
              </a:rPr>
              <a:t> in this flat since 2019.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331720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31720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07008" y="2331720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4752" y="2331720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82496" y="2331720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2258568"/>
            <a:ext cx="1828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 i="0">
                <a:solidFill>
                  <a:srgbClr val="E08A1E"/>
                </a:solidFill>
                <a:latin typeface="Arial"/>
              </a:rPr>
              <a:t>0 of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258568"/>
            <a:ext cx="42976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400" b="1" i="0">
                <a:solidFill>
                  <a:srgbClr val="3F6E17"/>
                </a:solidFill>
                <a:latin typeface="Arial"/>
              </a:rPr>
              <a:t>We learn it in Unit 3, Dec to Jan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71800"/>
            <a:ext cx="82296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81528"/>
            <a:ext cx="7680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E08A1E"/>
                </a:solidFill>
                <a:latin typeface="Arial"/>
              </a:rPr>
              <a:t>QUESTION 34  ·  SECOND CONDITIONAL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0" i="0">
                <a:solidFill>
                  <a:srgbClr val="222222"/>
                </a:solidFill>
                <a:latin typeface="Georgia"/>
              </a:rPr>
              <a:t>If I </a:t>
            </a:r>
            <a:r>
              <a:rPr sz="2400" b="1" i="0">
                <a:solidFill>
                  <a:srgbClr val="3F6E17"/>
                </a:solidFill>
                <a:latin typeface="Georgia"/>
              </a:rPr>
              <a:t>had</a:t>
            </a:r>
            <a:r>
              <a:rPr sz="2400" b="0" i="0">
                <a:solidFill>
                  <a:srgbClr val="222222"/>
                </a:solidFill>
                <a:latin typeface="Georgia"/>
              </a:rPr>
              <a:t> more time, I would train every day.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069080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069080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07008" y="4069080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4752" y="4069080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82496" y="4069080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74519" y="3995928"/>
            <a:ext cx="1828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 i="0">
                <a:solidFill>
                  <a:srgbClr val="E08A1E"/>
                </a:solidFill>
                <a:latin typeface="Arial"/>
              </a:rPr>
              <a:t>0 of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995928"/>
            <a:ext cx="42976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400" b="1" i="0">
                <a:solidFill>
                  <a:srgbClr val="3F6E17"/>
                </a:solidFill>
                <a:latin typeface="Arial"/>
              </a:rPr>
              <a:t>We learn it in Unit 6, May to Jun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Our year, unit by unit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THE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PET I  ·  The Level Ladder, 9 Sep 2026  ·  Somerset Language Centre, Valencia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1280160" cy="2331720"/>
          </a:xfrm>
          <a:prstGeom prst="roundRect">
            <a:avLst>
              <a:gd name="adj" fmla="val 12000"/>
            </a:avLst>
          </a:prstGeom>
          <a:solidFill>
            <a:srgbClr val="6BAE2E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288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11887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</a:rPr>
              <a:t>Perfect for the job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834640"/>
            <a:ext cx="1133856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present simple and continuous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6576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Sep to Oct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28016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E08A1E"/>
                </a:solidFill>
                <a:latin typeface="Arial"/>
              </a:rPr>
              <a:t>YOU ARE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1737360"/>
            <a:ext cx="12801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18288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3F6E17"/>
                </a:solidFill>
                <a:latin typeface="Arial"/>
              </a:rPr>
              <a:t>UNIT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48840"/>
            <a:ext cx="11887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222222"/>
                </a:solidFill>
                <a:latin typeface="Georgia"/>
              </a:rPr>
              <a:t>Delicious!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2834640"/>
            <a:ext cx="1133856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Arial"/>
              </a:rPr>
              <a:t>past simple, past continuous, used 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6576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Arial"/>
              </a:rPr>
              <a:t>Oct to Nov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1737360"/>
            <a:ext cx="12801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18288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3F6E17"/>
                </a:solidFill>
                <a:latin typeface="Arial"/>
              </a:rPr>
              <a:t>UNIT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148840"/>
            <a:ext cx="11887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222222"/>
                </a:solidFill>
                <a:latin typeface="Georgia"/>
              </a:rPr>
              <a:t>It's natural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9272" y="2834640"/>
            <a:ext cx="1133856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Arial"/>
              </a:rPr>
              <a:t>present perfect, articles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36576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Arial"/>
              </a:rPr>
              <a:t>Dec to Jan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737360"/>
            <a:ext cx="12801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18288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3F6E17"/>
                </a:solidFill>
                <a:latin typeface="Arial"/>
              </a:rPr>
              <a:t>UNIT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2148840"/>
            <a:ext cx="11887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222222"/>
                </a:solidFill>
                <a:latin typeface="Georgia"/>
              </a:rPr>
              <a:t>That's the fashion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2834640"/>
            <a:ext cx="1133856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Arial"/>
              </a:rPr>
              <a:t>relative clauses, time clauses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6576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Arial"/>
              </a:rPr>
              <a:t>Feb to Mar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1737360"/>
            <a:ext cx="12801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8288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3F6E17"/>
                </a:solidFill>
                <a:latin typeface="Arial"/>
              </a:rPr>
              <a:t>UNIT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148840"/>
            <a:ext cx="11887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222222"/>
                </a:solidFill>
                <a:latin typeface="Georgia"/>
              </a:rPr>
              <a:t>Where we 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53912" y="2834640"/>
            <a:ext cx="1133856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Arial"/>
              </a:rPr>
              <a:t>will, going to, future plans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36576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Arial"/>
              </a:rPr>
              <a:t>Mar to Apr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1737360"/>
            <a:ext cx="12801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18288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3F6E17"/>
                </a:solidFill>
                <a:latin typeface="Arial"/>
              </a:rPr>
              <a:t>UNIT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2148840"/>
            <a:ext cx="11887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222222"/>
                </a:solidFill>
                <a:latin typeface="Georgia"/>
              </a:rPr>
              <a:t>Go for it!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1231" y="2834640"/>
            <a:ext cx="1133856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Arial"/>
              </a:rPr>
              <a:t>conditionals, unless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36576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Arial"/>
              </a:rPr>
              <a:t>May to Jun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4297680"/>
            <a:ext cx="83210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0" i="1">
                <a:solidFill>
                  <a:srgbClr val="777777"/>
                </a:solidFill>
                <a:latin typeface="Arial"/>
              </a:rPr>
              <a:t>Months are approximate. In June we do the Level Ladder again and compare.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How each of you did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574036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229971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CLICK A CARD TO SEE WHO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PET I  ·  The Level Ladder, 9 Sep 2026  ·  Somerset Language Centre, Valencia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Letters are random, not a ranking. Click a card to open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00200"/>
            <a:ext cx="155448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91640"/>
            <a:ext cx="15544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800" b="1" i="0">
                <a:solidFill>
                  <a:srgbClr val="222222"/>
                </a:solidFill>
                <a:latin typeface="Georgia"/>
              </a:rPr>
              <a:t>Student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94560"/>
            <a:ext cx="1554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600" b="1" i="0">
                <a:solidFill>
                  <a:srgbClr val="6BAE2E"/>
                </a:solidFill>
                <a:latin typeface="Arial"/>
              </a:rPr>
              <a:t>27/36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98064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" y="2852928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" y="2852928"/>
            <a:ext cx="6477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2798064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54096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" y="3108960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" y="3108960"/>
            <a:ext cx="77724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3054096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310128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" y="3364992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" y="3364992"/>
            <a:ext cx="38862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27632" y="3310128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566160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" y="3621024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0392" y="3621024"/>
            <a:ext cx="6477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3566160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822192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" y="3877056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392" y="3877056"/>
            <a:ext cx="6477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3822192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078224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" y="4133087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" y="4133087"/>
            <a:ext cx="38862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27632" y="4078224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</a:t>
            </a:r>
          </a:p>
        </p:txBody>
      </p:sp>
      <p:sp>
        <p:nvSpPr>
          <p:cNvPr id="36" name="Rectangle 35">
            <a:hlinkClick action="ppaction://hlinksldjump" r:id="rId4"/>
          </p:cNvPr>
          <p:cNvSpPr/>
          <p:nvPr/>
        </p:nvSpPr>
        <p:spPr>
          <a:xfrm>
            <a:off x="411480" y="1600200"/>
            <a:ext cx="1554480" cy="3063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21408" y="1600200"/>
            <a:ext cx="155448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21408" y="1691640"/>
            <a:ext cx="15544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800" b="1" i="0">
                <a:solidFill>
                  <a:srgbClr val="222222"/>
                </a:solidFill>
                <a:latin typeface="Georgia"/>
              </a:rPr>
              <a:t>Student 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21408" y="2194560"/>
            <a:ext cx="1554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600" b="1" i="0">
                <a:solidFill>
                  <a:srgbClr val="6BAE2E"/>
                </a:solidFill>
                <a:latin typeface="Arial"/>
              </a:rPr>
              <a:t>13/36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12848" y="2798064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2852928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560320" y="2852928"/>
            <a:ext cx="38862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37560" y="2798064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12848" y="3054096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0" y="3108960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37560" y="3054096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12848" y="3310128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3364992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560320" y="3364992"/>
            <a:ext cx="38862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37560" y="3310128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12848" y="3566160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60320" y="3621024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560320" y="3621024"/>
            <a:ext cx="12954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37560" y="3566160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12848" y="3822192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3877056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60320" y="3877056"/>
            <a:ext cx="25908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37560" y="3822192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12848" y="4078224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0" y="4133087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560320" y="4133087"/>
            <a:ext cx="51816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37560" y="4078224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4</a:t>
            </a:r>
          </a:p>
        </p:txBody>
      </p:sp>
      <p:sp>
        <p:nvSpPr>
          <p:cNvPr id="63" name="Rectangle 62">
            <a:hlinkClick action="ppaction://hlinksldjump" r:id="rId5"/>
          </p:cNvPr>
          <p:cNvSpPr/>
          <p:nvPr/>
        </p:nvSpPr>
        <p:spPr>
          <a:xfrm>
            <a:off x="2121408" y="1600200"/>
            <a:ext cx="1554480" cy="3063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831336" y="1600200"/>
            <a:ext cx="155448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31336" y="1691640"/>
            <a:ext cx="15544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800" b="1" i="0">
                <a:solidFill>
                  <a:srgbClr val="222222"/>
                </a:solidFill>
                <a:latin typeface="Georgia"/>
              </a:rPr>
              <a:t>Student 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31336" y="2194560"/>
            <a:ext cx="1554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600" b="1" i="0">
                <a:solidFill>
                  <a:srgbClr val="6BAE2E"/>
                </a:solidFill>
                <a:latin typeface="Arial"/>
              </a:rPr>
              <a:t>29/36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22776" y="2798064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70248" y="2852928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270248" y="2852928"/>
            <a:ext cx="6477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47488" y="2798064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22776" y="3054096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70248" y="3108960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70248" y="3108960"/>
            <a:ext cx="6477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47488" y="3054096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22776" y="3310128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70248" y="3364992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270248" y="3364992"/>
            <a:ext cx="51816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47488" y="3310128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22776" y="3566160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70248" y="3621024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270248" y="3621024"/>
            <a:ext cx="6477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47488" y="3566160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22776" y="3822192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70248" y="3877056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270248" y="3877056"/>
            <a:ext cx="6477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47488" y="3822192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22776" y="4078224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70248" y="4133087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270248" y="4133087"/>
            <a:ext cx="6477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47488" y="4078224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91" name="Rectangle 90">
            <a:hlinkClick action="ppaction://hlinksldjump" r:id="rId6"/>
          </p:cNvPr>
          <p:cNvSpPr/>
          <p:nvPr/>
        </p:nvSpPr>
        <p:spPr>
          <a:xfrm>
            <a:off x="3831336" y="1600200"/>
            <a:ext cx="1554480" cy="3063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5541264" y="1600200"/>
            <a:ext cx="155448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541264" y="1691640"/>
            <a:ext cx="15544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800" b="1" i="0">
                <a:solidFill>
                  <a:srgbClr val="222222"/>
                </a:solidFill>
                <a:latin typeface="Georgia"/>
              </a:rPr>
              <a:t>Student 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41264" y="2194560"/>
            <a:ext cx="1554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600" b="1" i="0">
                <a:solidFill>
                  <a:srgbClr val="6BAE2E"/>
                </a:solidFill>
                <a:latin typeface="Arial"/>
              </a:rPr>
              <a:t>16/36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32704" y="2798064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80176" y="2852928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980176" y="2852928"/>
            <a:ext cx="51816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757416" y="2798064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32704" y="3054096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980176" y="3108960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980176" y="3108960"/>
            <a:ext cx="38862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57416" y="3054096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32704" y="3310128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80176" y="3364992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980176" y="3364992"/>
            <a:ext cx="38862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757416" y="3310128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32704" y="3566160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80176" y="3621024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757416" y="3566160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32704" y="3822192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980176" y="3877056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980176" y="3877056"/>
            <a:ext cx="25908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757416" y="3822192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32704" y="4078224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U6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980176" y="4133087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980176" y="4133087"/>
            <a:ext cx="51816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757416" y="4078224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4</a:t>
            </a:r>
          </a:p>
        </p:txBody>
      </p:sp>
      <p:sp>
        <p:nvSpPr>
          <p:cNvPr id="118" name="Rectangle 117">
            <a:hlinkClick action="ppaction://hlinksldjump" r:id="rId7"/>
          </p:cNvPr>
          <p:cNvSpPr/>
          <p:nvPr/>
        </p:nvSpPr>
        <p:spPr>
          <a:xfrm>
            <a:off x="5541264" y="1600200"/>
            <a:ext cx="1554480" cy="3063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7251192" y="1600200"/>
            <a:ext cx="155448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251192" y="1691640"/>
            <a:ext cx="15544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800" b="1" i="0">
                <a:solidFill>
                  <a:srgbClr val="222222"/>
                </a:solidFill>
                <a:latin typeface="Georgia"/>
              </a:rPr>
              <a:t>Student 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251192" y="2194560"/>
            <a:ext cx="1554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600" b="1" i="0">
                <a:solidFill>
                  <a:srgbClr val="6BAE2E"/>
                </a:solidFill>
                <a:latin typeface="Arial"/>
              </a:rPr>
              <a:t>30/36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342632" y="2798064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690104" y="2852928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690104" y="2852928"/>
            <a:ext cx="6477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467344" y="2798064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342632" y="3054096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690104" y="3108960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690104" y="3108960"/>
            <a:ext cx="6477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467344" y="3054096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342632" y="3310128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690104" y="3364992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690104" y="3364992"/>
            <a:ext cx="51816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467344" y="3310128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342632" y="3566160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690104" y="3621024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690104" y="3621024"/>
            <a:ext cx="77724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467344" y="3566160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342632" y="3822192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U5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690104" y="3877056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690104" y="3877056"/>
            <a:ext cx="6477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467344" y="3822192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342632" y="4078224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U6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690104" y="4133087"/>
            <a:ext cx="7772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7690104" y="4133087"/>
            <a:ext cx="6477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467344" y="4078224"/>
            <a:ext cx="320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146" name="Rectangle 145">
            <a:hlinkClick action="ppaction://hlinksldjump" r:id="rId8"/>
          </p:cNvPr>
          <p:cNvSpPr/>
          <p:nvPr/>
        </p:nvSpPr>
        <p:spPr>
          <a:xfrm>
            <a:off x="7251192" y="1600200"/>
            <a:ext cx="1554480" cy="3063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Student A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PERSONAL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PET I  ·  The Level Ladder, 9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6517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THIS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3774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Georgia"/>
              </a:rPr>
              <a:t>Alejandra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2377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4000" b="1" i="0">
                <a:solidFill>
                  <a:srgbClr val="6BAE2E"/>
                </a:solidFill>
                <a:latin typeface="Arial"/>
              </a:rPr>
              <a:t>27/36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STRONGEST 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Unit 2: Delicious!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502920" y="4114800"/>
            <a:ext cx="2286000" cy="411480"/>
          </a:xfrm>
          <a:prstGeom prst="roundRect">
            <a:avLst>
              <a:gd name="adj" fmla="val 12000"/>
            </a:avLst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Back to all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23444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1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Perfect for the job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132588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40680" y="1325880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23444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618488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2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Delicious!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1709928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40680" y="1709928"/>
            <a:ext cx="237744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1618488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6/6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002536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3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It's natural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0680" y="2093976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40680" y="2093976"/>
            <a:ext cx="118872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2002536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2386584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4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That's the fashion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680" y="2478024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40680" y="2478024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2386584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770632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5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Where we live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40680" y="2862072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0680" y="2862072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2770632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315468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6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Go for it!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40680" y="324612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40680" y="3246120"/>
            <a:ext cx="118872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9560" y="315468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61188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E08A1E"/>
                </a:solidFill>
                <a:latin typeface="Arial"/>
              </a:rPr>
              <a:t>YOUR NEXT THREE 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3858768"/>
            <a:ext cx="566928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4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She usually cycles, but this week she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is taking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the metro.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1, now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160520"/>
            <a:ext cx="566928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14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We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have lived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in this flat since 2019.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3, Dec to Jan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462272"/>
            <a:ext cx="566928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15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My eyes hurt. I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have been looking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at this screen for three hours.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3, Dec to Jan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Student B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PERSONAL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PET I  ·  The Level Ladder, 9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6517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THIS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3774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Georgia"/>
              </a:rPr>
              <a:t>Sergio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2377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4000" b="1" i="0">
                <a:solidFill>
                  <a:srgbClr val="6BAE2E"/>
                </a:solidFill>
                <a:latin typeface="Arial"/>
              </a:rPr>
              <a:t>13/36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STRONGEST 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Unit 6: Go for it!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502920" y="4114800"/>
            <a:ext cx="2286000" cy="411480"/>
          </a:xfrm>
          <a:prstGeom prst="roundRect">
            <a:avLst>
              <a:gd name="adj" fmla="val 12000"/>
            </a:avLst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Back to all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23444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1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Perfect for the job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132588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40680" y="1325880"/>
            <a:ext cx="118872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23444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618488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2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Delicious!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1709928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1618488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0/6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002536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3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It's natural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2093976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40680" y="2093976"/>
            <a:ext cx="118872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2002536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386584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4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That's the fashion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0680" y="2478024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40680" y="2478024"/>
            <a:ext cx="39624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386584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1/6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2770632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5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Where we live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40680" y="2862072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0680" y="2862072"/>
            <a:ext cx="79248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2770632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2/6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15468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6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Go for it!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40680" y="324612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0680" y="3246120"/>
            <a:ext cx="158496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315468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361188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E08A1E"/>
                </a:solidFill>
                <a:latin typeface="Arial"/>
              </a:rPr>
              <a:t>YOUR NEXT THREE 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858768"/>
            <a:ext cx="566928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2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Be quiet! The baby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is sleeping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at the moment.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1, now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4160520"/>
            <a:ext cx="566928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4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She usually cycles, but this week she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is taking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the metro.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1, now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462272"/>
            <a:ext cx="566928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6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Marta always arrives when she says she will. She is very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reliable</a:t>
            </a:r>
            <a:r>
              <a:rPr sz="1100" b="0" i="0">
                <a:solidFill>
                  <a:srgbClr val="222222"/>
                </a:solidFill>
                <a:latin typeface="Arial"/>
              </a:rPr>
              <a:t>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1, now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Student C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PERSONAL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PET I  ·  The Level Ladder, 9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6517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THIS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3774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Georgia"/>
              </a:rPr>
              <a:t>Maya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2377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4000" b="1" i="0">
                <a:solidFill>
                  <a:srgbClr val="6BAE2E"/>
                </a:solidFill>
                <a:latin typeface="Arial"/>
              </a:rPr>
              <a:t>29/36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STRONGEST 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Unit 1: Perfect for the job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502920" y="4114800"/>
            <a:ext cx="2286000" cy="411480"/>
          </a:xfrm>
          <a:prstGeom prst="roundRect">
            <a:avLst>
              <a:gd name="adj" fmla="val 12000"/>
            </a:avLst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Back to all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23444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1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Perfect for the job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132588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40680" y="1325880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23444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618488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2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Delicious!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1709928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40680" y="1709928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1618488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002536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3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It's natural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0680" y="2093976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40680" y="2093976"/>
            <a:ext cx="158496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2002536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2386584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4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That's the fashion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680" y="2478024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40680" y="2478024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2386584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770632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5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Where we live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40680" y="2862072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0680" y="2862072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2770632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315468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6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Go for it!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40680" y="324612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40680" y="3246120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9560" y="315468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61188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E08A1E"/>
                </a:solidFill>
                <a:latin typeface="Arial"/>
              </a:rPr>
              <a:t>YOUR NEXT THREE 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3858768"/>
            <a:ext cx="566928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4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She usually cycles, but this week she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is taking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the metro.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1, now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160520"/>
            <a:ext cx="566928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9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While my father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was chopping</a:t>
            </a:r>
            <a:r>
              <a:rPr sz="1100" b="0" i="0">
                <a:solidFill>
                  <a:srgbClr val="222222"/>
                </a:solidFill>
                <a:latin typeface="Arial"/>
              </a:rPr>
              <a:t>, my mother was setting the table.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2, Oct to Nov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462272"/>
            <a:ext cx="566928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13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I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have never been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to the Bioparc.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3, Dec to Jan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Student D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PERSONAL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PET I  ·  The Level Ladder, 9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6517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THIS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3774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Georgia"/>
              </a:rPr>
              <a:t>Álvaro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2377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4000" b="1" i="0">
                <a:solidFill>
                  <a:srgbClr val="6BAE2E"/>
                </a:solidFill>
                <a:latin typeface="Arial"/>
              </a:rPr>
              <a:t>16/36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STRONGEST 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Unit 1: Perfect for the job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502920" y="4114800"/>
            <a:ext cx="2286000" cy="411480"/>
          </a:xfrm>
          <a:prstGeom prst="roundRect">
            <a:avLst>
              <a:gd name="adj" fmla="val 12000"/>
            </a:avLst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Back to all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23444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1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Perfect for the job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132588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40680" y="1325880"/>
            <a:ext cx="158496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23444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618488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2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Delicious!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1709928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40680" y="1709928"/>
            <a:ext cx="118872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1618488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002536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3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It's natural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0680" y="2093976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40680" y="2093976"/>
            <a:ext cx="118872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2002536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2386584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4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That's the fashion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680" y="2478024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386584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0/6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2770632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5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Where we live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40680" y="2862072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0680" y="2862072"/>
            <a:ext cx="79248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2770632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2/6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15468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6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Go for it!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40680" y="324612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0680" y="3246120"/>
            <a:ext cx="158496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315468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361188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E08A1E"/>
                </a:solidFill>
                <a:latin typeface="Arial"/>
              </a:rPr>
              <a:t>YOUR NEXT THREE 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858768"/>
            <a:ext cx="566928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2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Be quiet! The baby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is sleeping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at the moment.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1, now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4160520"/>
            <a:ext cx="566928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6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Marta always arrives when she says she will. She is very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reliable</a:t>
            </a:r>
            <a:r>
              <a:rPr sz="1100" b="0" i="0">
                <a:solidFill>
                  <a:srgbClr val="222222"/>
                </a:solidFill>
                <a:latin typeface="Arial"/>
              </a:rPr>
              <a:t>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1, now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462272"/>
            <a:ext cx="566928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9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While my father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was chopping</a:t>
            </a:r>
            <a:r>
              <a:rPr sz="1100" b="0" i="0">
                <a:solidFill>
                  <a:srgbClr val="222222"/>
                </a:solidFill>
                <a:latin typeface="Arial"/>
              </a:rPr>
              <a:t>, my mother was setting the table.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2, Oct to Nov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Student E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PERSONAL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PET I  ·  The Level Ladder, 9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6517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THIS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3774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Georgia"/>
              </a:rPr>
              <a:t>Valeria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2377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4000" b="1" i="0">
                <a:solidFill>
                  <a:srgbClr val="6BAE2E"/>
                </a:solidFill>
                <a:latin typeface="Arial"/>
              </a:rPr>
              <a:t>30/36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STRONGEST 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Unit 4: That's the fashion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502920" y="4114800"/>
            <a:ext cx="2286000" cy="411480"/>
          </a:xfrm>
          <a:prstGeom prst="roundRect">
            <a:avLst>
              <a:gd name="adj" fmla="val 12000"/>
            </a:avLst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Back to all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23444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1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Perfect for the job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132588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40680" y="1325880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23444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618488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2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Delicious!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1709928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40680" y="1709928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1618488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002536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3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It's natural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0680" y="2093976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40680" y="2093976"/>
            <a:ext cx="158496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2002536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2386584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4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That's the fashion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680" y="2478024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40680" y="2478024"/>
            <a:ext cx="237744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2386584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6/6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770632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5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Where we live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40680" y="2862072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0680" y="2862072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2770632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315468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6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Go for it!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40680" y="324612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40680" y="3246120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9560" y="315468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61188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E08A1E"/>
                </a:solidFill>
                <a:latin typeface="Arial"/>
              </a:rPr>
              <a:t>YOUR NEXT THREE 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3858768"/>
            <a:ext cx="566928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4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She usually cycles, but this week she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is taking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the metro.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1, now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160520"/>
            <a:ext cx="566928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9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While my father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was chopping</a:t>
            </a:r>
            <a:r>
              <a:rPr sz="1100" b="0" i="0">
                <a:solidFill>
                  <a:srgbClr val="222222"/>
                </a:solidFill>
                <a:latin typeface="Arial"/>
              </a:rPr>
              <a:t>, my mother was setting the table.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2, Oct to Nov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462272"/>
            <a:ext cx="566928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13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I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have never been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to the Bioparc.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3, Dec to Jan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So what happens now?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PET I  ·  The Level Ladder, 9 Sep 2026  ·  Somerset Language Centre, Valencia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143000"/>
            <a:ext cx="71323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Georgia"/>
              </a:rPr>
              <a:t>Today,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36192"/>
            <a:ext cx="7132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777777"/>
                </a:solidFill>
                <a:latin typeface="Arial"/>
              </a:rPr>
              <a:t>Present simple or present continuous. Question 4: only 1 of 5 got it. That is exactly what we practise today.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377440"/>
            <a:ext cx="640080" cy="64008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31720"/>
            <a:ext cx="71323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Georgia"/>
              </a:rPr>
              <a:t>Every 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24912"/>
            <a:ext cx="7132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777777"/>
                </a:solidFill>
                <a:latin typeface="Arial"/>
              </a:rPr>
              <a:t>When we reach a new unit, look back at its six questions. You will see them get easier.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566160"/>
            <a:ext cx="640080" cy="64008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71323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Georgia"/>
              </a:rPr>
              <a:t>June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13632"/>
            <a:ext cx="7132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777777"/>
                </a:solidFill>
                <a:latin typeface="Arial"/>
              </a:rPr>
              <a:t>We climb the ladder again and see how much higher you 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