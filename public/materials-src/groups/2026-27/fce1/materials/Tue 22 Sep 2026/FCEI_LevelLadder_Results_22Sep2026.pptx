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73" r:id="rId25"/>
    <p:sldId id="268" r:id="rId20"/>
    <p:sldId id="269" r:id="rId21"/>
    <p:sldId id="270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repeating the promise on the paper: not an exam, not on any report. Say it before any numbers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students, 36 items each, 108 answers in total. Blank answers count as 'not yet'.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out: the class already knows a lot about Unit 2 vocabulary and Unit 6 sport words. Grammar in Units 3 and 6 is the big 'not yet'. Months are approximate.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rows: 2 or fewer of the class got it right. These are the Unit 1 targets for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rows: 2 or fewer of the class got it right. These are the Unit 2 targets for Oct to Dec.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rows: 2 or fewer of the class got it right. These are the Unit 3 targets for Jan to Feb.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rows: 2 or fewer of the class got it right. These are the Unit 4 targets for Feb to 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rows: 2 or fewer of the class got it right. These are the Unit 5 targets for Apr to May.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rows: 2 or fewer of the class got it right. These are the Unit 6 targets for May to Jun.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Spanish speakers say 'vivimos aquí desde 2019' (present) and 'si tuviera' feels far from 'if I had'. Both are classic L1 transfers, so this is normal, not a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Timings are an estimate (Split A, Units 1 to 6, spread across the course). Adjust if the pace changes. Repeating the ladder in June is a suggestion, only say it if you plan to do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Names only appear if you click a card. With three students, scores can still be guessed, so only open a card with that student's OK, or show it to them privately at the end. The detail slides are hidden and never appear when you just click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Martina: 27/36. Targets are the first three items they missed, in course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Isabella: 19/36. Targets are the first three items they missed, in course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Víctor: 24/36. Targets are the first three items they missed, in course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Hand-off into Unit 1 Block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Relationship Id="rId4" Type="http://schemas.openxmlformats.org/officeDocument/2006/relationships/slide" Target="slide13.xml"/><Relationship Id="rId5" Type="http://schemas.openxmlformats.org/officeDocument/2006/relationships/slide" Target="slide14.xml"/><Relationship Id="rId6" Type="http://schemas.openxmlformats.org/officeDocument/2006/relationships/slide" Target="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2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2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2.xml"/><Relationship Id="rId4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051560"/>
            <a:ext cx="2011680" cy="3657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6BAE2E"/>
                </a:solidFill>
                <a:latin typeface="Arial"/>
              </a:rPr>
              <a:t>FCE I  ·  TUESDAY  ·  B2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804672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600" b="1" i="0">
                <a:solidFill>
                  <a:srgbClr val="222222"/>
                </a:solidFill>
                <a:latin typeface="Georgia"/>
              </a:rPr>
              <a:t>The Level Ladder: your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7772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0" i="1">
                <a:solidFill>
                  <a:srgbClr val="777777"/>
                </a:solidFill>
                <a:latin typeface="Georgia"/>
              </a:rPr>
              <a:t>What you already know, what you don't know yet, and when we will learn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7498079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F6E17"/>
                </a:solidFill>
                <a:latin typeface="Arial"/>
              </a:rPr>
              <a:t>Remember: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this was not an exam. It covered the whole year, so most of it we have not taught yet. Every mistake here is just a map of where we are going.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How the Level Ladder worked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6060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6000" b="1" i="0">
                <a:solidFill>
                  <a:srgbClr val="6BAE2E"/>
                </a:solidFill>
                <a:latin typeface="Georgia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606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000" b="1" i="0">
                <a:solidFill>
                  <a:srgbClr val="222222"/>
                </a:solidFill>
                <a:latin typeface="Arial"/>
              </a:rPr>
              <a:t>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1488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777777"/>
                </a:solidFill>
                <a:latin typeface="Arial"/>
              </a:rPr>
              <a:t>Six in each part.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4408" y="123444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417320"/>
            <a:ext cx="26060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6000" b="1" i="0">
                <a:solidFill>
                  <a:srgbClr val="6BAE2E"/>
                </a:solidFill>
                <a:latin typeface="Georgia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468880"/>
            <a:ext cx="2606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000" b="1" i="0">
                <a:solidFill>
                  <a:srgbClr val="222222"/>
                </a:solidFill>
                <a:latin typeface="Arial"/>
              </a:rPr>
              <a:t>parts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017520"/>
            <a:ext cx="21488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777777"/>
                </a:solidFill>
                <a:latin typeface="Arial"/>
              </a:rPr>
              <a:t>One part for each unit we will study this year.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123444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417320"/>
            <a:ext cx="26060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6000" b="1" i="0">
                <a:solidFill>
                  <a:srgbClr val="6BAE2E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2468880"/>
            <a:ext cx="2606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000" b="1" i="0">
                <a:solidFill>
                  <a:srgbClr val="222222"/>
                </a:solidFill>
                <a:latin typeface="Arial"/>
              </a:rPr>
              <a:t>unit so far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3017520"/>
            <a:ext cx="21488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0" i="0">
                <a:solidFill>
                  <a:srgbClr val="777777"/>
                </a:solidFill>
                <a:latin typeface="Arial"/>
              </a:rPr>
              <a:t>We’re already partway through Unit 1. Units 2 to 6 are still to come.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How the class did, unit by unit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THE WHOLE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Correct answers from all three of you together (18 per unit). Unit 1 is where we are now.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017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F6E17"/>
                </a:solidFill>
                <a:latin typeface="Arial"/>
              </a:rPr>
              <a:t>Unit 1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Jump for joy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91640"/>
            <a:ext cx="3291840" cy="246888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91640"/>
            <a:ext cx="2743200" cy="246888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600200"/>
            <a:ext cx="731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83%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664208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6BAE2E"/>
          </a:solidFill>
          <a:ln w="1270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664208"/>
            <a:ext cx="11887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03120"/>
            <a:ext cx="3017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F6E17"/>
                </a:solidFill>
                <a:latin typeface="Arial"/>
              </a:rPr>
              <a:t>Unit 2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Global culture?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194560"/>
            <a:ext cx="3291840" cy="246888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194560"/>
            <a:ext cx="1828800" cy="246888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731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56%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67127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167127"/>
            <a:ext cx="11887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3F6E17"/>
                </a:solidFill>
                <a:latin typeface="Arial"/>
              </a:rPr>
              <a:t>Oct to Dec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606040"/>
            <a:ext cx="3017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F6E17"/>
                </a:solidFill>
                <a:latin typeface="Arial"/>
              </a:rPr>
              <a:t>Unit 3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Role models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697480"/>
            <a:ext cx="3291840" cy="246888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0" y="2697480"/>
            <a:ext cx="2194560" cy="246888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606040"/>
            <a:ext cx="731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67%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670048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2670048"/>
            <a:ext cx="11887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3F6E17"/>
                </a:solidFill>
                <a:latin typeface="Arial"/>
              </a:rPr>
              <a:t>Jan to 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108960"/>
            <a:ext cx="3017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F6E17"/>
                </a:solidFill>
                <a:latin typeface="Arial"/>
              </a:rPr>
              <a:t>Unit 4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City living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3200400"/>
            <a:ext cx="3291840" cy="246888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0" y="3200400"/>
            <a:ext cx="1828800" cy="246888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108960"/>
            <a:ext cx="731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56%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3172968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3172968"/>
            <a:ext cx="11887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3F6E17"/>
                </a:solidFill>
                <a:latin typeface="Arial"/>
              </a:rPr>
              <a:t>Feb to Mar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611880"/>
            <a:ext cx="3017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F6E17"/>
                </a:solidFill>
                <a:latin typeface="Arial"/>
              </a:rPr>
              <a:t>Unit 5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Emerging technologies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3703320"/>
            <a:ext cx="3291840" cy="246888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4720" y="3703320"/>
            <a:ext cx="2194560" cy="246888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611880"/>
            <a:ext cx="731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67%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3675888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3675888"/>
            <a:ext cx="11887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3F6E17"/>
                </a:solidFill>
                <a:latin typeface="Arial"/>
              </a:rPr>
              <a:t>Apr to May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114800"/>
            <a:ext cx="3017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3F6E17"/>
                </a:solidFill>
                <a:latin typeface="Arial"/>
              </a:rPr>
              <a:t>Unit 6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Take it easy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4206240"/>
            <a:ext cx="3291840" cy="246888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74720" y="4206240"/>
            <a:ext cx="2011680" cy="246888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4114800"/>
            <a:ext cx="7315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61%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35240" y="4178808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4178808"/>
            <a:ext cx="11887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3F6E17"/>
                </a:solidFill>
                <a:latin typeface="Arial"/>
              </a:rPr>
              <a:t>May to Jun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Unit 1: Jump for joy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PART 1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4231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Georgia"/>
              </a:rPr>
              <a:t>Now, through Oct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present simple and continuous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6BAE2E"/>
                </a:solidFill>
                <a:latin typeface="Georgia"/>
              </a:rPr>
              <a:t>15 /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024128"/>
            <a:ext cx="4114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rial"/>
              </a:rPr>
              <a:t>The correct answer is in green.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024128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29844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6" name="TextBox 17"/>
          <p:cNvSpPr txBox="1"/>
          <p:nvPr/>
        </p:nvSpPr>
        <p:spPr>
          <a:xfrm>
            <a:off x="3017520" y="129844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Nuria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is worrying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about her results at the moment, though she is normally calm.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present continuous, temporary</a:t>
            </a:r>
          </a:p>
        </p:txBody>
      </p:sp>
      <p:sp>
        <p:nvSpPr>
          <p:cNvPr id="9029" name="Oval 19"/>
          <p:cNvSpPr/>
          <p:nvPr/>
        </p:nvSpPr>
        <p:spPr>
          <a:xfrm>
            <a:off x="7525512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0" name="Oval 20"/>
          <p:cNvSpPr/>
          <p:nvPr/>
        </p:nvSpPr>
        <p:spPr>
          <a:xfrm>
            <a:off x="7735824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1" name="Oval 21"/>
          <p:cNvSpPr/>
          <p:nvPr/>
        </p:nvSpPr>
        <p:spPr>
          <a:xfrm>
            <a:off x="7946136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7" name="TextBox 23"/>
          <p:cNvSpPr txBox="1"/>
          <p:nvPr/>
        </p:nvSpPr>
        <p:spPr>
          <a:xfrm>
            <a:off x="7315200" y="157276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0 of 3</a:t>
            </a:r>
          </a:p>
        </p:txBody>
      </p:sp>
      <p:sp>
        <p:nvSpPr>
          <p:cNvPr id="9028" name="TextBox 23 Pill"/>
          <p:cNvSpPr txBox="1"/>
          <p:nvPr/>
        </p:nvSpPr>
        <p:spPr>
          <a:xfrm>
            <a:off x="8092440" y="1563624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1874519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1" name="TextBox 25"/>
          <p:cNvSpPr txBox="1"/>
          <p:nvPr/>
        </p:nvSpPr>
        <p:spPr>
          <a:xfrm>
            <a:off x="3017520" y="1874519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Try the horchata in Alboraya. It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tastes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nothing like the supermarket version.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stative verb</a:t>
            </a:r>
          </a:p>
        </p:txBody>
      </p:sp>
      <p:sp>
        <p:nvSpPr>
          <p:cNvPr id="9023" name="Oval 27"/>
          <p:cNvSpPr/>
          <p:nvPr/>
        </p:nvSpPr>
        <p:spPr>
          <a:xfrm>
            <a:off x="7525512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4" name="Oval 28"/>
          <p:cNvSpPr/>
          <p:nvPr/>
        </p:nvSpPr>
        <p:spPr>
          <a:xfrm>
            <a:off x="7735824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5" name="Oval 29"/>
          <p:cNvSpPr/>
          <p:nvPr/>
        </p:nvSpPr>
        <p:spPr>
          <a:xfrm>
            <a:off x="7946136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2" name="TextBox 31"/>
          <p:cNvSpPr txBox="1"/>
          <p:nvPr/>
        </p:nvSpPr>
        <p:spPr>
          <a:xfrm>
            <a:off x="7315200" y="2148839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3 of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2450591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6" name="TextBox 33"/>
          <p:cNvSpPr txBox="1"/>
          <p:nvPr/>
        </p:nvSpPr>
        <p:spPr>
          <a:xfrm>
            <a:off x="3017520" y="2450591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Actually, I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think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you have a point.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think as opinion, stative</a:t>
            </a:r>
          </a:p>
        </p:txBody>
      </p:sp>
      <p:sp>
        <p:nvSpPr>
          <p:cNvPr id="9018" name="Oval 35"/>
          <p:cNvSpPr/>
          <p:nvPr/>
        </p:nvSpPr>
        <p:spPr>
          <a:xfrm>
            <a:off x="7525512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9" name="Oval 36"/>
          <p:cNvSpPr/>
          <p:nvPr/>
        </p:nvSpPr>
        <p:spPr>
          <a:xfrm>
            <a:off x="7735824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0" name="Oval 37"/>
          <p:cNvSpPr/>
          <p:nvPr/>
        </p:nvSpPr>
        <p:spPr>
          <a:xfrm>
            <a:off x="7946136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7" name="TextBox 39"/>
          <p:cNvSpPr txBox="1"/>
          <p:nvPr/>
        </p:nvSpPr>
        <p:spPr>
          <a:xfrm>
            <a:off x="7315200" y="2724911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3 of 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26080" y="3026664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1" name="TextBox 41"/>
          <p:cNvSpPr txBox="1"/>
          <p:nvPr/>
        </p:nvSpPr>
        <p:spPr>
          <a:xfrm>
            <a:off x="3017520" y="3026664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4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Flats in Ruzafa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are getting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more expensive every single year.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continuous, changing situation</a:t>
            </a:r>
          </a:p>
        </p:txBody>
      </p:sp>
      <p:sp>
        <p:nvSpPr>
          <p:cNvPr id="9013" name="Oval 43"/>
          <p:cNvSpPr/>
          <p:nvPr/>
        </p:nvSpPr>
        <p:spPr>
          <a:xfrm>
            <a:off x="7525512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4" name="Oval 44"/>
          <p:cNvSpPr/>
          <p:nvPr/>
        </p:nvSpPr>
        <p:spPr>
          <a:xfrm>
            <a:off x="7735824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5" name="Oval 45"/>
          <p:cNvSpPr/>
          <p:nvPr/>
        </p:nvSpPr>
        <p:spPr>
          <a:xfrm>
            <a:off x="7946136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2" name="TextBox 47"/>
          <p:cNvSpPr txBox="1"/>
          <p:nvPr/>
        </p:nvSpPr>
        <p:spPr>
          <a:xfrm>
            <a:off x="7315200" y="3300984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3 of 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26080" y="3602736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TextBox 50"/>
          <p:cNvSpPr txBox="1"/>
          <p:nvPr/>
        </p:nvSpPr>
        <p:spPr>
          <a:xfrm>
            <a:off x="3017520" y="3602736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5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Teresa went bright red when she forgot her lines on stage. She felt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embarrassed</a:t>
            </a:r>
            <a:r>
              <a:rPr sz="1200" b="0" i="0">
                <a:solidFill>
                  <a:srgbClr val="222222"/>
                </a:solidFill>
                <a:latin typeface="Arial"/>
              </a:rPr>
              <a:t>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-ed against -ing</a:t>
            </a:r>
          </a:p>
        </p:txBody>
      </p:sp>
      <p:sp>
        <p:nvSpPr>
          <p:cNvPr id="9008" name="Oval 52"/>
          <p:cNvSpPr/>
          <p:nvPr/>
        </p:nvSpPr>
        <p:spPr>
          <a:xfrm>
            <a:off x="7525512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9" name="Oval 53"/>
          <p:cNvSpPr/>
          <p:nvPr/>
        </p:nvSpPr>
        <p:spPr>
          <a:xfrm>
            <a:off x="7735824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0" name="Oval 54"/>
          <p:cNvSpPr/>
          <p:nvPr/>
        </p:nvSpPr>
        <p:spPr>
          <a:xfrm>
            <a:off x="7946136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7" name="TextBox 56"/>
          <p:cNvSpPr txBox="1"/>
          <p:nvPr/>
        </p:nvSpPr>
        <p:spPr>
          <a:xfrm>
            <a:off x="7315200" y="3877056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3 of 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26080" y="417880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1" name="TextBox 58"/>
          <p:cNvSpPr txBox="1"/>
          <p:nvPr/>
        </p:nvSpPr>
        <p:spPr>
          <a:xfrm>
            <a:off x="3017520" y="417880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6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Claudia never changes her mind, however good your argument is. She is very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stubborn</a:t>
            </a:r>
            <a:r>
              <a:rPr sz="1200" b="0" i="0">
                <a:solidFill>
                  <a:srgbClr val="222222"/>
                </a:solidFill>
                <a:latin typeface="Arial"/>
              </a:rPr>
              <a:t>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personality adjectives</a:t>
            </a:r>
          </a:p>
        </p:txBody>
      </p:sp>
      <p:sp>
        <p:nvSpPr>
          <p:cNvPr id="9003" name="Oval 60"/>
          <p:cNvSpPr/>
          <p:nvPr/>
        </p:nvSpPr>
        <p:spPr>
          <a:xfrm>
            <a:off x="7525512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4" name="Oval 61"/>
          <p:cNvSpPr/>
          <p:nvPr/>
        </p:nvSpPr>
        <p:spPr>
          <a:xfrm>
            <a:off x="7735824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Oval 62"/>
          <p:cNvSpPr/>
          <p:nvPr/>
        </p:nvSpPr>
        <p:spPr>
          <a:xfrm>
            <a:off x="7946136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2" name="TextBox 64"/>
          <p:cNvSpPr txBox="1"/>
          <p:nvPr/>
        </p:nvSpPr>
        <p:spPr>
          <a:xfrm>
            <a:off x="7315200" y="445312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3 of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Unit 2: Global culture?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PART 2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4231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Georgia"/>
              </a:rPr>
              <a:t>Oct to Dec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past simple, past continuous, used to / would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6BAE2E"/>
                </a:solidFill>
                <a:latin typeface="Georgia"/>
              </a:rPr>
              <a:t>10 /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024128"/>
            <a:ext cx="4114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rial"/>
              </a:rPr>
              <a:t>The correct answer is in green.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024128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29844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9" name="TextBox 17"/>
          <p:cNvSpPr txBox="1"/>
          <p:nvPr/>
        </p:nvSpPr>
        <p:spPr>
          <a:xfrm>
            <a:off x="3017520" y="129844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7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While the parade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was passing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through the Plaza del Ayuntamiento, it started to rain.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past continuous, interrupted</a:t>
            </a:r>
          </a:p>
        </p:txBody>
      </p:sp>
      <p:sp>
        <p:nvSpPr>
          <p:cNvPr id="9031" name="Oval 19"/>
          <p:cNvSpPr/>
          <p:nvPr/>
        </p:nvSpPr>
        <p:spPr>
          <a:xfrm>
            <a:off x="7525512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2" name="Oval 20"/>
          <p:cNvSpPr/>
          <p:nvPr/>
        </p:nvSpPr>
        <p:spPr>
          <a:xfrm>
            <a:off x="7735824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3" name="Oval 21"/>
          <p:cNvSpPr/>
          <p:nvPr/>
        </p:nvSpPr>
        <p:spPr>
          <a:xfrm>
            <a:off x="7946136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0" name="TextBox 23"/>
          <p:cNvSpPr txBox="1"/>
          <p:nvPr/>
        </p:nvSpPr>
        <p:spPr>
          <a:xfrm>
            <a:off x="7315200" y="157276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3 of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1874519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3" name="TextBox 25"/>
          <p:cNvSpPr txBox="1"/>
          <p:nvPr/>
        </p:nvSpPr>
        <p:spPr>
          <a:xfrm>
            <a:off x="3017520" y="1874519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8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When I was small, we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would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spend every March at my grandmother’s house for Fallas.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would, repeated past action</a:t>
            </a:r>
          </a:p>
        </p:txBody>
      </p:sp>
      <p:sp>
        <p:nvSpPr>
          <p:cNvPr id="9026" name="Oval 27"/>
          <p:cNvSpPr/>
          <p:nvPr/>
        </p:nvSpPr>
        <p:spPr>
          <a:xfrm>
            <a:off x="7525512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7" name="Oval 28"/>
          <p:cNvSpPr/>
          <p:nvPr/>
        </p:nvSpPr>
        <p:spPr>
          <a:xfrm>
            <a:off x="7735824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8" name="Oval 29"/>
          <p:cNvSpPr/>
          <p:nvPr/>
        </p:nvSpPr>
        <p:spPr>
          <a:xfrm>
            <a:off x="7946136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4" name="TextBox 31"/>
          <p:cNvSpPr txBox="1"/>
          <p:nvPr/>
        </p:nvSpPr>
        <p:spPr>
          <a:xfrm>
            <a:off x="7315200" y="2148839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0 of 3</a:t>
            </a:r>
          </a:p>
        </p:txBody>
      </p:sp>
      <p:sp>
        <p:nvSpPr>
          <p:cNvPr id="9025" name="TextBox 31 Pill"/>
          <p:cNvSpPr txBox="1"/>
          <p:nvPr/>
        </p:nvSpPr>
        <p:spPr>
          <a:xfrm>
            <a:off x="8092440" y="2139695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2450591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8" name="TextBox 33"/>
          <p:cNvSpPr txBox="1"/>
          <p:nvPr/>
        </p:nvSpPr>
        <p:spPr>
          <a:xfrm>
            <a:off x="3017520" y="2450591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9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She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used to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hate the mascletà, but now she never misses one.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used to with a stative verb</a:t>
            </a:r>
          </a:p>
        </p:txBody>
      </p:sp>
      <p:sp>
        <p:nvSpPr>
          <p:cNvPr id="9020" name="Oval 35"/>
          <p:cNvSpPr/>
          <p:nvPr/>
        </p:nvSpPr>
        <p:spPr>
          <a:xfrm>
            <a:off x="7525512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1" name="Oval 36"/>
          <p:cNvSpPr/>
          <p:nvPr/>
        </p:nvSpPr>
        <p:spPr>
          <a:xfrm>
            <a:off x="7735824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2" name="Oval 37"/>
          <p:cNvSpPr/>
          <p:nvPr/>
        </p:nvSpPr>
        <p:spPr>
          <a:xfrm>
            <a:off x="7946136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9" name="TextBox 39"/>
          <p:cNvSpPr txBox="1"/>
          <p:nvPr/>
        </p:nvSpPr>
        <p:spPr>
          <a:xfrm>
            <a:off x="7315200" y="2724911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3 of 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26080" y="3026664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2" name="TextBox 42"/>
          <p:cNvSpPr txBox="1"/>
          <p:nvPr/>
        </p:nvSpPr>
        <p:spPr>
          <a:xfrm>
            <a:off x="3017520" y="3026664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10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am used to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the noise now, so I sleep straight through it.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be used to + noun</a:t>
            </a:r>
          </a:p>
        </p:txBody>
      </p:sp>
      <p:sp>
        <p:nvSpPr>
          <p:cNvPr id="9015" name="Oval 44"/>
          <p:cNvSpPr/>
          <p:nvPr/>
        </p:nvSpPr>
        <p:spPr>
          <a:xfrm>
            <a:off x="7525512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6" name="Oval 45"/>
          <p:cNvSpPr/>
          <p:nvPr/>
        </p:nvSpPr>
        <p:spPr>
          <a:xfrm>
            <a:off x="7735824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7" name="Oval 46"/>
          <p:cNvSpPr/>
          <p:nvPr/>
        </p:nvSpPr>
        <p:spPr>
          <a:xfrm>
            <a:off x="7946136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3" name="TextBox 48"/>
          <p:cNvSpPr txBox="1"/>
          <p:nvPr/>
        </p:nvSpPr>
        <p:spPr>
          <a:xfrm>
            <a:off x="7315200" y="3300984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1 of 3</a:t>
            </a:r>
          </a:p>
        </p:txBody>
      </p:sp>
      <p:sp>
        <p:nvSpPr>
          <p:cNvPr id="9014" name="TextBox 48 Pill"/>
          <p:cNvSpPr txBox="1"/>
          <p:nvPr/>
        </p:nvSpPr>
        <p:spPr>
          <a:xfrm>
            <a:off x="8092440" y="3291840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26080" y="3602736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7" name="TextBox 50"/>
          <p:cNvSpPr txBox="1"/>
          <p:nvPr/>
        </p:nvSpPr>
        <p:spPr>
          <a:xfrm>
            <a:off x="3017520" y="3602736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11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The ninots are burnt on the final night. It is a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ritual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that goes back centuries.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traditions</a:t>
            </a:r>
          </a:p>
        </p:txBody>
      </p:sp>
      <p:sp>
        <p:nvSpPr>
          <p:cNvPr id="9009" name="Oval 52"/>
          <p:cNvSpPr/>
          <p:nvPr/>
        </p:nvSpPr>
        <p:spPr>
          <a:xfrm>
            <a:off x="7525512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0" name="Oval 53"/>
          <p:cNvSpPr/>
          <p:nvPr/>
        </p:nvSpPr>
        <p:spPr>
          <a:xfrm>
            <a:off x="7735824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1" name="Oval 54"/>
          <p:cNvSpPr/>
          <p:nvPr/>
        </p:nvSpPr>
        <p:spPr>
          <a:xfrm>
            <a:off x="7946136" y="3712463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8" name="TextBox 56"/>
          <p:cNvSpPr txBox="1"/>
          <p:nvPr/>
        </p:nvSpPr>
        <p:spPr>
          <a:xfrm>
            <a:off x="7315200" y="3877056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2 of 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26080" y="417880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1" name="TextBox 58"/>
          <p:cNvSpPr txBox="1"/>
          <p:nvPr/>
        </p:nvSpPr>
        <p:spPr>
          <a:xfrm>
            <a:off x="3017520" y="417880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12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Thousands of people line the streets to watch the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parade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go past.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festivals</a:t>
            </a:r>
          </a:p>
        </p:txBody>
      </p:sp>
      <p:sp>
        <p:nvSpPr>
          <p:cNvPr id="9004" name="Oval 60"/>
          <p:cNvSpPr/>
          <p:nvPr/>
        </p:nvSpPr>
        <p:spPr>
          <a:xfrm>
            <a:off x="7525512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Oval 61"/>
          <p:cNvSpPr/>
          <p:nvPr/>
        </p:nvSpPr>
        <p:spPr>
          <a:xfrm>
            <a:off x="7735824" y="428853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Oval 62"/>
          <p:cNvSpPr/>
          <p:nvPr/>
        </p:nvSpPr>
        <p:spPr>
          <a:xfrm>
            <a:off x="7946136" y="428853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2" name="TextBox 64"/>
          <p:cNvSpPr txBox="1"/>
          <p:nvPr/>
        </p:nvSpPr>
        <p:spPr>
          <a:xfrm>
            <a:off x="7315200" y="445312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1 of 3</a:t>
            </a:r>
          </a:p>
        </p:txBody>
      </p:sp>
      <p:sp>
        <p:nvSpPr>
          <p:cNvPr id="9003" name="TextBox 64 Pill"/>
          <p:cNvSpPr txBox="1"/>
          <p:nvPr/>
        </p:nvSpPr>
        <p:spPr>
          <a:xfrm>
            <a:off x="8092440" y="4443984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Unit 3: Role models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PART 3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4231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Georgia"/>
              </a:rPr>
              <a:t>Jan to Feb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past perfect simple and continuous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6BAE2E"/>
                </a:solidFill>
                <a:latin typeface="Georgia"/>
              </a:rPr>
              <a:t>12 /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024128"/>
            <a:ext cx="4114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rial"/>
              </a:rPr>
              <a:t>The correct answer is in green.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024128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29844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7" name="TextBox 17"/>
          <p:cNvSpPr txBox="1"/>
          <p:nvPr/>
        </p:nvSpPr>
        <p:spPr>
          <a:xfrm>
            <a:off x="3017520" y="129844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13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By the time we got to Mestalla, the match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had already started</a:t>
            </a:r>
            <a:r>
              <a:rPr sz="1200" b="0" i="0">
                <a:solidFill>
                  <a:srgbClr val="222222"/>
                </a:solidFill>
                <a:latin typeface="Arial"/>
              </a:rPr>
              <a:t>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past perfect</a:t>
            </a:r>
          </a:p>
        </p:txBody>
      </p:sp>
      <p:sp>
        <p:nvSpPr>
          <p:cNvPr id="9029" name="Oval 19"/>
          <p:cNvSpPr/>
          <p:nvPr/>
        </p:nvSpPr>
        <p:spPr>
          <a:xfrm>
            <a:off x="7525512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0" name="Oval 20"/>
          <p:cNvSpPr/>
          <p:nvPr/>
        </p:nvSpPr>
        <p:spPr>
          <a:xfrm>
            <a:off x="7735824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1" name="Oval 21"/>
          <p:cNvSpPr/>
          <p:nvPr/>
        </p:nvSpPr>
        <p:spPr>
          <a:xfrm>
            <a:off x="7946136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8" name="TextBox 23"/>
          <p:cNvSpPr txBox="1"/>
          <p:nvPr/>
        </p:nvSpPr>
        <p:spPr>
          <a:xfrm>
            <a:off x="7315200" y="157276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2 of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1874519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2" name="TextBox 26"/>
          <p:cNvSpPr txBox="1"/>
          <p:nvPr/>
        </p:nvSpPr>
        <p:spPr>
          <a:xfrm>
            <a:off x="3017520" y="1874519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14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She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had been running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for over five hours when she finally crossed the finish line.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past perfect continuous</a:t>
            </a:r>
          </a:p>
        </p:txBody>
      </p:sp>
      <p:sp>
        <p:nvSpPr>
          <p:cNvPr id="9024" name="Oval 28"/>
          <p:cNvSpPr/>
          <p:nvPr/>
        </p:nvSpPr>
        <p:spPr>
          <a:xfrm>
            <a:off x="7525512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5" name="Oval 29"/>
          <p:cNvSpPr/>
          <p:nvPr/>
        </p:nvSpPr>
        <p:spPr>
          <a:xfrm>
            <a:off x="7735824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6" name="Oval 30"/>
          <p:cNvSpPr/>
          <p:nvPr/>
        </p:nvSpPr>
        <p:spPr>
          <a:xfrm>
            <a:off x="7946136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3" name="TextBox 32"/>
          <p:cNvSpPr txBox="1"/>
          <p:nvPr/>
        </p:nvSpPr>
        <p:spPr>
          <a:xfrm>
            <a:off x="7315200" y="2148839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2 of 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2450591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7" name="TextBox 35"/>
          <p:cNvSpPr txBox="1"/>
          <p:nvPr/>
        </p:nvSpPr>
        <p:spPr>
          <a:xfrm>
            <a:off x="3017520" y="2450591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15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 didn’t recognise Beatriz at first because she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had cut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her hair.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past perfect simple, result</a:t>
            </a:r>
          </a:p>
        </p:txBody>
      </p:sp>
      <p:sp>
        <p:nvSpPr>
          <p:cNvPr id="9019" name="Oval 37"/>
          <p:cNvSpPr/>
          <p:nvPr/>
        </p:nvSpPr>
        <p:spPr>
          <a:xfrm>
            <a:off x="7525512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0" name="Oval 38"/>
          <p:cNvSpPr/>
          <p:nvPr/>
        </p:nvSpPr>
        <p:spPr>
          <a:xfrm>
            <a:off x="7735824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1" name="Oval 39"/>
          <p:cNvSpPr/>
          <p:nvPr/>
        </p:nvSpPr>
        <p:spPr>
          <a:xfrm>
            <a:off x="7946136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8" name="TextBox 41"/>
          <p:cNvSpPr txBox="1"/>
          <p:nvPr/>
        </p:nvSpPr>
        <p:spPr>
          <a:xfrm>
            <a:off x="7315200" y="2724911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2 of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26080" y="3026664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1" name="TextBox 43"/>
          <p:cNvSpPr txBox="1"/>
          <p:nvPr/>
        </p:nvSpPr>
        <p:spPr>
          <a:xfrm>
            <a:off x="3017520" y="3026664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16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Before he won his first medal, he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had lost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three finals.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past perfect before a past point</a:t>
            </a:r>
          </a:p>
        </p:txBody>
      </p:sp>
      <p:sp>
        <p:nvSpPr>
          <p:cNvPr id="9014" name="Oval 45"/>
          <p:cNvSpPr/>
          <p:nvPr/>
        </p:nvSpPr>
        <p:spPr>
          <a:xfrm>
            <a:off x="7525512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5" name="Oval 46"/>
          <p:cNvSpPr/>
          <p:nvPr/>
        </p:nvSpPr>
        <p:spPr>
          <a:xfrm>
            <a:off x="7735824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6" name="Oval 47"/>
          <p:cNvSpPr/>
          <p:nvPr/>
        </p:nvSpPr>
        <p:spPr>
          <a:xfrm>
            <a:off x="7946136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2" name="TextBox 49"/>
          <p:cNvSpPr txBox="1"/>
          <p:nvPr/>
        </p:nvSpPr>
        <p:spPr>
          <a:xfrm>
            <a:off x="7315200" y="3300984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0 of 3</a:t>
            </a:r>
          </a:p>
        </p:txBody>
      </p:sp>
      <p:sp>
        <p:nvSpPr>
          <p:cNvPr id="9013" name="TextBox 49 Pill"/>
          <p:cNvSpPr txBox="1"/>
          <p:nvPr/>
        </p:nvSpPr>
        <p:spPr>
          <a:xfrm>
            <a:off x="8092440" y="3291840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26080" y="3602736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TextBox 51"/>
          <p:cNvSpPr txBox="1"/>
          <p:nvPr/>
        </p:nvSpPr>
        <p:spPr>
          <a:xfrm>
            <a:off x="3017520" y="3602736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17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Her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determination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to keep training after the injury is what impressed the selectors.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success nouns</a:t>
            </a:r>
          </a:p>
        </p:txBody>
      </p:sp>
      <p:sp>
        <p:nvSpPr>
          <p:cNvPr id="9008" name="Oval 53"/>
          <p:cNvSpPr/>
          <p:nvPr/>
        </p:nvSpPr>
        <p:spPr>
          <a:xfrm>
            <a:off x="7525512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9" name="Oval 54"/>
          <p:cNvSpPr/>
          <p:nvPr/>
        </p:nvSpPr>
        <p:spPr>
          <a:xfrm>
            <a:off x="7735824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0" name="Oval 55"/>
          <p:cNvSpPr/>
          <p:nvPr/>
        </p:nvSpPr>
        <p:spPr>
          <a:xfrm>
            <a:off x="7946136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7" name="TextBox 57"/>
          <p:cNvSpPr txBox="1"/>
          <p:nvPr/>
        </p:nvSpPr>
        <p:spPr>
          <a:xfrm>
            <a:off x="7315200" y="3877056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3 of 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926080" y="417880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1" name="TextBox 59"/>
          <p:cNvSpPr txBox="1"/>
          <p:nvPr/>
        </p:nvSpPr>
        <p:spPr>
          <a:xfrm>
            <a:off x="3017520" y="417880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18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One good teacher can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inspire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a whole generation of students.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influence verbs</a:t>
            </a:r>
          </a:p>
        </p:txBody>
      </p:sp>
      <p:sp>
        <p:nvSpPr>
          <p:cNvPr id="9003" name="Oval 61"/>
          <p:cNvSpPr/>
          <p:nvPr/>
        </p:nvSpPr>
        <p:spPr>
          <a:xfrm>
            <a:off x="7525512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4" name="Oval 62"/>
          <p:cNvSpPr/>
          <p:nvPr/>
        </p:nvSpPr>
        <p:spPr>
          <a:xfrm>
            <a:off x="7735824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Oval 63"/>
          <p:cNvSpPr/>
          <p:nvPr/>
        </p:nvSpPr>
        <p:spPr>
          <a:xfrm>
            <a:off x="7946136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2" name="TextBox 65"/>
          <p:cNvSpPr txBox="1"/>
          <p:nvPr/>
        </p:nvSpPr>
        <p:spPr>
          <a:xfrm>
            <a:off x="7315200" y="445312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3 of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Unit 4: City living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PART 4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4231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Georgia"/>
              </a:rPr>
              <a:t>Feb to 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future 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6BAE2E"/>
                </a:solidFill>
                <a:latin typeface="Georgia"/>
              </a:rPr>
              <a:t>10 /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024128"/>
            <a:ext cx="4114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rial"/>
              </a:rPr>
              <a:t>The correct answer is in green.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024128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29844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9" name="TextBox 17"/>
          <p:cNvSpPr txBox="1"/>
          <p:nvPr/>
        </p:nvSpPr>
        <p:spPr>
          <a:xfrm>
            <a:off x="3017520" y="129844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19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This time next year Lucía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will be living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in Berlin.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future continuous</a:t>
            </a:r>
          </a:p>
        </p:txBody>
      </p:sp>
      <p:sp>
        <p:nvSpPr>
          <p:cNvPr id="9031" name="Oval 19"/>
          <p:cNvSpPr/>
          <p:nvPr/>
        </p:nvSpPr>
        <p:spPr>
          <a:xfrm>
            <a:off x="7525512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2" name="Oval 20"/>
          <p:cNvSpPr/>
          <p:nvPr/>
        </p:nvSpPr>
        <p:spPr>
          <a:xfrm>
            <a:off x="7735824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3" name="Oval 21"/>
          <p:cNvSpPr/>
          <p:nvPr/>
        </p:nvSpPr>
        <p:spPr>
          <a:xfrm>
            <a:off x="7946136" y="140817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0" name="TextBox 23"/>
          <p:cNvSpPr txBox="1"/>
          <p:nvPr/>
        </p:nvSpPr>
        <p:spPr>
          <a:xfrm>
            <a:off x="7315200" y="157276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2 of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1874519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3" name="TextBox 26"/>
          <p:cNvSpPr txBox="1"/>
          <p:nvPr/>
        </p:nvSpPr>
        <p:spPr>
          <a:xfrm>
            <a:off x="3017520" y="1874519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20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The new metro line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will have been finished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long before 2030.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future perfect passive</a:t>
            </a:r>
          </a:p>
        </p:txBody>
      </p:sp>
      <p:sp>
        <p:nvSpPr>
          <p:cNvPr id="9026" name="Oval 28"/>
          <p:cNvSpPr/>
          <p:nvPr/>
        </p:nvSpPr>
        <p:spPr>
          <a:xfrm>
            <a:off x="7525512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7" name="Oval 29"/>
          <p:cNvSpPr/>
          <p:nvPr/>
        </p:nvSpPr>
        <p:spPr>
          <a:xfrm>
            <a:off x="7735824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8" name="Oval 30"/>
          <p:cNvSpPr/>
          <p:nvPr/>
        </p:nvSpPr>
        <p:spPr>
          <a:xfrm>
            <a:off x="7946136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4" name="TextBox 32"/>
          <p:cNvSpPr txBox="1"/>
          <p:nvPr/>
        </p:nvSpPr>
        <p:spPr>
          <a:xfrm>
            <a:off x="7315200" y="2148839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1 of 3</a:t>
            </a:r>
          </a:p>
        </p:txBody>
      </p:sp>
      <p:sp>
        <p:nvSpPr>
          <p:cNvPr id="9025" name="TextBox 32 Pill"/>
          <p:cNvSpPr txBox="1"/>
          <p:nvPr/>
        </p:nvSpPr>
        <p:spPr>
          <a:xfrm>
            <a:off x="8092440" y="2139695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26080" y="2450591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8" name="TextBox 34"/>
          <p:cNvSpPr txBox="1"/>
          <p:nvPr/>
        </p:nvSpPr>
        <p:spPr>
          <a:xfrm>
            <a:off x="3017520" y="2450591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21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Careful, you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are going to drop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that box!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going to, present evidence</a:t>
            </a:r>
          </a:p>
        </p:txBody>
      </p:sp>
      <p:sp>
        <p:nvSpPr>
          <p:cNvPr id="9020" name="Oval 36"/>
          <p:cNvSpPr/>
          <p:nvPr/>
        </p:nvSpPr>
        <p:spPr>
          <a:xfrm>
            <a:off x="7525512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1" name="Oval 37"/>
          <p:cNvSpPr/>
          <p:nvPr/>
        </p:nvSpPr>
        <p:spPr>
          <a:xfrm>
            <a:off x="7735824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2" name="Oval 38"/>
          <p:cNvSpPr/>
          <p:nvPr/>
        </p:nvSpPr>
        <p:spPr>
          <a:xfrm>
            <a:off x="7946136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9" name="TextBox 40"/>
          <p:cNvSpPr txBox="1"/>
          <p:nvPr/>
        </p:nvSpPr>
        <p:spPr>
          <a:xfrm>
            <a:off x="7315200" y="2724911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3 of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26080" y="3026664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3" name="TextBox 43"/>
          <p:cNvSpPr txBox="1"/>
          <p:nvPr/>
        </p:nvSpPr>
        <p:spPr>
          <a:xfrm>
            <a:off x="3017520" y="3026664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22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The train to Madrid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leaves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every hour, on the hour.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timetable present</a:t>
            </a:r>
          </a:p>
        </p:txBody>
      </p:sp>
      <p:sp>
        <p:nvSpPr>
          <p:cNvPr id="9015" name="Oval 45"/>
          <p:cNvSpPr/>
          <p:nvPr/>
        </p:nvSpPr>
        <p:spPr>
          <a:xfrm>
            <a:off x="7525512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6" name="Oval 46"/>
          <p:cNvSpPr/>
          <p:nvPr/>
        </p:nvSpPr>
        <p:spPr>
          <a:xfrm>
            <a:off x="7735824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7" name="Oval 47"/>
          <p:cNvSpPr/>
          <p:nvPr/>
        </p:nvSpPr>
        <p:spPr>
          <a:xfrm>
            <a:off x="7946136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4" name="TextBox 49"/>
          <p:cNvSpPr txBox="1"/>
          <p:nvPr/>
        </p:nvSpPr>
        <p:spPr>
          <a:xfrm>
            <a:off x="7315200" y="3300984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2 of 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26080" y="3602736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7" name="TextBox 51"/>
          <p:cNvSpPr txBox="1"/>
          <p:nvPr/>
        </p:nvSpPr>
        <p:spPr>
          <a:xfrm>
            <a:off x="3017520" y="3602736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23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They live on the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outskirts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of the city, about twenty minutes out by bus.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cities</a:t>
            </a:r>
          </a:p>
        </p:txBody>
      </p:sp>
      <p:sp>
        <p:nvSpPr>
          <p:cNvPr id="9010" name="Oval 53"/>
          <p:cNvSpPr/>
          <p:nvPr/>
        </p:nvSpPr>
        <p:spPr>
          <a:xfrm>
            <a:off x="7525512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1" name="Oval 54"/>
          <p:cNvSpPr/>
          <p:nvPr/>
        </p:nvSpPr>
        <p:spPr>
          <a:xfrm>
            <a:off x="7735824" y="3712463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2" name="Oval 55"/>
          <p:cNvSpPr/>
          <p:nvPr/>
        </p:nvSpPr>
        <p:spPr>
          <a:xfrm>
            <a:off x="7946136" y="3712463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8" name="TextBox 57"/>
          <p:cNvSpPr txBox="1"/>
          <p:nvPr/>
        </p:nvSpPr>
        <p:spPr>
          <a:xfrm>
            <a:off x="7315200" y="3877056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1 of 3</a:t>
            </a:r>
          </a:p>
        </p:txBody>
      </p:sp>
      <p:sp>
        <p:nvSpPr>
          <p:cNvPr id="9009" name="TextBox 57 Pill"/>
          <p:cNvSpPr txBox="1"/>
          <p:nvPr/>
        </p:nvSpPr>
        <p:spPr>
          <a:xfrm>
            <a:off x="8092440" y="3867912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926080" y="417880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1" name="TextBox 59"/>
          <p:cNvSpPr txBox="1"/>
          <p:nvPr/>
        </p:nvSpPr>
        <p:spPr>
          <a:xfrm>
            <a:off x="3017520" y="417880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24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El Carmen is a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bustling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district, full of bars and people at all hours.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describing districts</a:t>
            </a:r>
          </a:p>
        </p:txBody>
      </p:sp>
      <p:sp>
        <p:nvSpPr>
          <p:cNvPr id="9004" name="Oval 61"/>
          <p:cNvSpPr/>
          <p:nvPr/>
        </p:nvSpPr>
        <p:spPr>
          <a:xfrm>
            <a:off x="7525512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Oval 62"/>
          <p:cNvSpPr/>
          <p:nvPr/>
        </p:nvSpPr>
        <p:spPr>
          <a:xfrm>
            <a:off x="7735824" y="428853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Oval 63"/>
          <p:cNvSpPr/>
          <p:nvPr/>
        </p:nvSpPr>
        <p:spPr>
          <a:xfrm>
            <a:off x="7946136" y="428853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2" name="TextBox 65"/>
          <p:cNvSpPr txBox="1"/>
          <p:nvPr/>
        </p:nvSpPr>
        <p:spPr>
          <a:xfrm>
            <a:off x="7315200" y="445312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1 of 3</a:t>
            </a:r>
          </a:p>
        </p:txBody>
      </p:sp>
      <p:sp>
        <p:nvSpPr>
          <p:cNvPr id="9003" name="TextBox 65 Pill"/>
          <p:cNvSpPr txBox="1"/>
          <p:nvPr/>
        </p:nvSpPr>
        <p:spPr>
          <a:xfrm>
            <a:off x="8092440" y="4443984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Unit 5: Emerging technologies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PART 5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4231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Georgia"/>
              </a:rPr>
              <a:t>Apr to May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modals: obligation, probability, deduction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6BAE2E"/>
                </a:solidFill>
                <a:latin typeface="Georgia"/>
              </a:rPr>
              <a:t>12 /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024128"/>
            <a:ext cx="4114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rial"/>
              </a:rPr>
              <a:t>The correct answer is in green.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024128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29844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8" name="TextBox 17"/>
          <p:cNvSpPr txBox="1"/>
          <p:nvPr/>
        </p:nvSpPr>
        <p:spPr>
          <a:xfrm>
            <a:off x="3017520" y="129844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25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You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mustn’t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take photos inside the gallery. There are signs on every wall.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prohibition</a:t>
            </a:r>
          </a:p>
        </p:txBody>
      </p:sp>
      <p:sp>
        <p:nvSpPr>
          <p:cNvPr id="9030" name="Oval 19"/>
          <p:cNvSpPr/>
          <p:nvPr/>
        </p:nvSpPr>
        <p:spPr>
          <a:xfrm>
            <a:off x="7525512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1" name="Oval 20"/>
          <p:cNvSpPr/>
          <p:nvPr/>
        </p:nvSpPr>
        <p:spPr>
          <a:xfrm>
            <a:off x="7735824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2" name="Oval 21"/>
          <p:cNvSpPr/>
          <p:nvPr/>
        </p:nvSpPr>
        <p:spPr>
          <a:xfrm>
            <a:off x="7946136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9" name="TextBox 23"/>
          <p:cNvSpPr txBox="1"/>
          <p:nvPr/>
        </p:nvSpPr>
        <p:spPr>
          <a:xfrm>
            <a:off x="7315200" y="157276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3 of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1874519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3" name="TextBox 25"/>
          <p:cNvSpPr txBox="1"/>
          <p:nvPr/>
        </p:nvSpPr>
        <p:spPr>
          <a:xfrm>
            <a:off x="3017520" y="1874519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26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She isn’t answering. She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might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still be on the metro.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probability</a:t>
            </a:r>
          </a:p>
        </p:txBody>
      </p:sp>
      <p:sp>
        <p:nvSpPr>
          <p:cNvPr id="9025" name="Oval 27"/>
          <p:cNvSpPr/>
          <p:nvPr/>
        </p:nvSpPr>
        <p:spPr>
          <a:xfrm>
            <a:off x="7525512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6" name="Oval 28"/>
          <p:cNvSpPr/>
          <p:nvPr/>
        </p:nvSpPr>
        <p:spPr>
          <a:xfrm>
            <a:off x="7735824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7" name="Oval 29"/>
          <p:cNvSpPr/>
          <p:nvPr/>
        </p:nvSpPr>
        <p:spPr>
          <a:xfrm>
            <a:off x="7946136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4" name="TextBox 31"/>
          <p:cNvSpPr txBox="1"/>
          <p:nvPr/>
        </p:nvSpPr>
        <p:spPr>
          <a:xfrm>
            <a:off x="7315200" y="2148839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3 of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2450591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7" name="TextBox 33"/>
          <p:cNvSpPr txBox="1"/>
          <p:nvPr/>
        </p:nvSpPr>
        <p:spPr>
          <a:xfrm>
            <a:off x="3017520" y="2450591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27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You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should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have told me the film started at eight. I missed the beginning.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perfect modal, criticism</a:t>
            </a:r>
          </a:p>
        </p:txBody>
      </p:sp>
      <p:sp>
        <p:nvSpPr>
          <p:cNvPr id="9020" name="Oval 35"/>
          <p:cNvSpPr/>
          <p:nvPr/>
        </p:nvSpPr>
        <p:spPr>
          <a:xfrm>
            <a:off x="7525512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1" name="Oval 36"/>
          <p:cNvSpPr/>
          <p:nvPr/>
        </p:nvSpPr>
        <p:spPr>
          <a:xfrm>
            <a:off x="7735824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2" name="Oval 37"/>
          <p:cNvSpPr/>
          <p:nvPr/>
        </p:nvSpPr>
        <p:spPr>
          <a:xfrm>
            <a:off x="7946136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8" name="TextBox 39"/>
          <p:cNvSpPr txBox="1"/>
          <p:nvPr/>
        </p:nvSpPr>
        <p:spPr>
          <a:xfrm>
            <a:off x="7315200" y="2724911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1 of 3</a:t>
            </a:r>
          </a:p>
        </p:txBody>
      </p:sp>
      <p:sp>
        <p:nvSpPr>
          <p:cNvPr id="9019" name="TextBox 39 Pill"/>
          <p:cNvSpPr txBox="1"/>
          <p:nvPr/>
        </p:nvSpPr>
        <p:spPr>
          <a:xfrm>
            <a:off x="8092440" y="2715767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26080" y="3026664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2" name="TextBox 41"/>
          <p:cNvSpPr txBox="1"/>
          <p:nvPr/>
        </p:nvSpPr>
        <p:spPr>
          <a:xfrm>
            <a:off x="3017520" y="3026664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28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That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can’t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be Irene at the door. She is in Alicante today.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deduction, impossibility</a:t>
            </a:r>
          </a:p>
        </p:txBody>
      </p:sp>
      <p:sp>
        <p:nvSpPr>
          <p:cNvPr id="9014" name="Oval 43"/>
          <p:cNvSpPr/>
          <p:nvPr/>
        </p:nvSpPr>
        <p:spPr>
          <a:xfrm>
            <a:off x="7525512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5" name="Oval 44"/>
          <p:cNvSpPr/>
          <p:nvPr/>
        </p:nvSpPr>
        <p:spPr>
          <a:xfrm>
            <a:off x="7735824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6" name="Oval 45"/>
          <p:cNvSpPr/>
          <p:nvPr/>
        </p:nvSpPr>
        <p:spPr>
          <a:xfrm>
            <a:off x="7946136" y="3136392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3" name="TextBox 47"/>
          <p:cNvSpPr txBox="1"/>
          <p:nvPr/>
        </p:nvSpPr>
        <p:spPr>
          <a:xfrm>
            <a:off x="7315200" y="3300984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2 of 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26080" y="3602736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TextBox 50"/>
          <p:cNvSpPr txBox="1"/>
          <p:nvPr/>
        </p:nvSpPr>
        <p:spPr>
          <a:xfrm>
            <a:off x="3017520" y="3602736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29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Make a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backup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of your files before you update the phone.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compound noun</a:t>
            </a:r>
          </a:p>
        </p:txBody>
      </p:sp>
      <p:sp>
        <p:nvSpPr>
          <p:cNvPr id="9009" name="Oval 52"/>
          <p:cNvSpPr/>
          <p:nvPr/>
        </p:nvSpPr>
        <p:spPr>
          <a:xfrm>
            <a:off x="7525512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0" name="Oval 53"/>
          <p:cNvSpPr/>
          <p:nvPr/>
        </p:nvSpPr>
        <p:spPr>
          <a:xfrm>
            <a:off x="7735824" y="3712463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1" name="Oval 54"/>
          <p:cNvSpPr/>
          <p:nvPr/>
        </p:nvSpPr>
        <p:spPr>
          <a:xfrm>
            <a:off x="7946136" y="3712463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7" name="TextBox 56"/>
          <p:cNvSpPr txBox="1"/>
          <p:nvPr/>
        </p:nvSpPr>
        <p:spPr>
          <a:xfrm>
            <a:off x="7315200" y="3877056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1 of 3</a:t>
            </a:r>
          </a:p>
        </p:txBody>
      </p:sp>
      <p:sp>
        <p:nvSpPr>
          <p:cNvPr id="9008" name="TextBox 56 Pill"/>
          <p:cNvSpPr txBox="1"/>
          <p:nvPr/>
        </p:nvSpPr>
        <p:spPr>
          <a:xfrm>
            <a:off x="8092440" y="3867912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26080" y="417880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1" name="TextBox 58"/>
          <p:cNvSpPr txBox="1"/>
          <p:nvPr/>
        </p:nvSpPr>
        <p:spPr>
          <a:xfrm>
            <a:off x="3017520" y="417880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30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The email arrived with three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attachments</a:t>
            </a:r>
            <a:r>
              <a:rPr sz="1200" b="0" i="0">
                <a:solidFill>
                  <a:srgbClr val="222222"/>
                </a:solidFill>
                <a:latin typeface="Arial"/>
              </a:rPr>
              <a:t>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technology</a:t>
            </a:r>
          </a:p>
        </p:txBody>
      </p:sp>
      <p:sp>
        <p:nvSpPr>
          <p:cNvPr id="9003" name="Oval 60"/>
          <p:cNvSpPr/>
          <p:nvPr/>
        </p:nvSpPr>
        <p:spPr>
          <a:xfrm>
            <a:off x="7525512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4" name="Oval 61"/>
          <p:cNvSpPr/>
          <p:nvPr/>
        </p:nvSpPr>
        <p:spPr>
          <a:xfrm>
            <a:off x="7735824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Oval 62"/>
          <p:cNvSpPr/>
          <p:nvPr/>
        </p:nvSpPr>
        <p:spPr>
          <a:xfrm>
            <a:off x="7946136" y="428853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2" name="TextBox 64"/>
          <p:cNvSpPr txBox="1"/>
          <p:nvPr/>
        </p:nvSpPr>
        <p:spPr>
          <a:xfrm>
            <a:off x="7315200" y="445312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2 of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Unit 6: Take it easy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PART 6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4231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Georgia"/>
              </a:rPr>
              <a:t>May to Jun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-ing form and infinitives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6BAE2E"/>
                </a:solidFill>
                <a:latin typeface="Georgia"/>
              </a:rPr>
              <a:t>11 /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024128"/>
            <a:ext cx="4114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rial"/>
              </a:rPr>
              <a:t>The correct answer is in green.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024128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29844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9" name="TextBox 17"/>
          <p:cNvSpPr txBox="1"/>
          <p:nvPr/>
        </p:nvSpPr>
        <p:spPr>
          <a:xfrm>
            <a:off x="3017520" y="129844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31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 can’t stand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waiting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in queues.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verb + -ing</a:t>
            </a:r>
          </a:p>
        </p:txBody>
      </p:sp>
      <p:sp>
        <p:nvSpPr>
          <p:cNvPr id="9031" name="Oval 19"/>
          <p:cNvSpPr/>
          <p:nvPr/>
        </p:nvSpPr>
        <p:spPr>
          <a:xfrm>
            <a:off x="7525512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2" name="Oval 20"/>
          <p:cNvSpPr/>
          <p:nvPr/>
        </p:nvSpPr>
        <p:spPr>
          <a:xfrm>
            <a:off x="7735824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3" name="Oval 21"/>
          <p:cNvSpPr/>
          <p:nvPr/>
        </p:nvSpPr>
        <p:spPr>
          <a:xfrm>
            <a:off x="7946136" y="140817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0" name="TextBox 23"/>
          <p:cNvSpPr txBox="1"/>
          <p:nvPr/>
        </p:nvSpPr>
        <p:spPr>
          <a:xfrm>
            <a:off x="7315200" y="157276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3 of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1874519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3" name="TextBox 25"/>
          <p:cNvSpPr txBox="1"/>
          <p:nvPr/>
        </p:nvSpPr>
        <p:spPr>
          <a:xfrm>
            <a:off x="3017520" y="1874519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32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She stopped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to tie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her shoelace and lost ten seconds.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stop + infinitive of purpose</a:t>
            </a:r>
          </a:p>
        </p:txBody>
      </p:sp>
      <p:sp>
        <p:nvSpPr>
          <p:cNvPr id="9026" name="Oval 27"/>
          <p:cNvSpPr/>
          <p:nvPr/>
        </p:nvSpPr>
        <p:spPr>
          <a:xfrm>
            <a:off x="7525512" y="1984248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7" name="Oval 28"/>
          <p:cNvSpPr/>
          <p:nvPr/>
        </p:nvSpPr>
        <p:spPr>
          <a:xfrm>
            <a:off x="7735824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8" name="Oval 29"/>
          <p:cNvSpPr/>
          <p:nvPr/>
        </p:nvSpPr>
        <p:spPr>
          <a:xfrm>
            <a:off x="7946136" y="1984248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4" name="TextBox 31"/>
          <p:cNvSpPr txBox="1"/>
          <p:nvPr/>
        </p:nvSpPr>
        <p:spPr>
          <a:xfrm>
            <a:off x="7315200" y="2148839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1 of 3</a:t>
            </a:r>
          </a:p>
        </p:txBody>
      </p:sp>
      <p:sp>
        <p:nvSpPr>
          <p:cNvPr id="9025" name="TextBox 31 Pill"/>
          <p:cNvSpPr txBox="1"/>
          <p:nvPr/>
        </p:nvSpPr>
        <p:spPr>
          <a:xfrm>
            <a:off x="8092440" y="2139695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2450591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8" name="TextBox 33"/>
          <p:cNvSpPr txBox="1"/>
          <p:nvPr/>
        </p:nvSpPr>
        <p:spPr>
          <a:xfrm>
            <a:off x="3017520" y="2450591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33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We are thinking of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taking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up padel this autumn.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preposition + -ing</a:t>
            </a:r>
          </a:p>
        </p:txBody>
      </p:sp>
      <p:sp>
        <p:nvSpPr>
          <p:cNvPr id="9020" name="Oval 35"/>
          <p:cNvSpPr/>
          <p:nvPr/>
        </p:nvSpPr>
        <p:spPr>
          <a:xfrm>
            <a:off x="7525512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1" name="Oval 36"/>
          <p:cNvSpPr/>
          <p:nvPr/>
        </p:nvSpPr>
        <p:spPr>
          <a:xfrm>
            <a:off x="7735824" y="2560320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2" name="Oval 37"/>
          <p:cNvSpPr/>
          <p:nvPr/>
        </p:nvSpPr>
        <p:spPr>
          <a:xfrm>
            <a:off x="7946136" y="2560320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9" name="TextBox 39"/>
          <p:cNvSpPr txBox="1"/>
          <p:nvPr/>
        </p:nvSpPr>
        <p:spPr>
          <a:xfrm>
            <a:off x="7315200" y="2724911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2 of 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26080" y="3026664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3" name="TextBox 42"/>
          <p:cNvSpPr txBox="1"/>
          <p:nvPr/>
        </p:nvSpPr>
        <p:spPr>
          <a:xfrm>
            <a:off x="3017520" y="3026664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34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He managed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to get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the ball past the keeper.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verb + infinitive</a:t>
            </a:r>
          </a:p>
        </p:txBody>
      </p:sp>
      <p:sp>
        <p:nvSpPr>
          <p:cNvPr id="9015" name="Oval 44"/>
          <p:cNvSpPr/>
          <p:nvPr/>
        </p:nvSpPr>
        <p:spPr>
          <a:xfrm>
            <a:off x="7525512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6" name="Oval 45"/>
          <p:cNvSpPr/>
          <p:nvPr/>
        </p:nvSpPr>
        <p:spPr>
          <a:xfrm>
            <a:off x="7735824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7" name="Oval 46"/>
          <p:cNvSpPr/>
          <p:nvPr/>
        </p:nvSpPr>
        <p:spPr>
          <a:xfrm>
            <a:off x="7946136" y="3136392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4" name="TextBox 48"/>
          <p:cNvSpPr txBox="1"/>
          <p:nvPr/>
        </p:nvSpPr>
        <p:spPr>
          <a:xfrm>
            <a:off x="7315200" y="3300984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3 of 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26080" y="3602736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7" name="TextBox 51"/>
          <p:cNvSpPr txBox="1"/>
          <p:nvPr/>
        </p:nvSpPr>
        <p:spPr>
          <a:xfrm>
            <a:off x="3017520" y="3602736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35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The Valencia marathon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course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is famously flat, which is why records fall on it.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sports venues</a:t>
            </a:r>
          </a:p>
        </p:txBody>
      </p:sp>
      <p:sp>
        <p:nvSpPr>
          <p:cNvPr id="9010" name="Oval 53"/>
          <p:cNvSpPr/>
          <p:nvPr/>
        </p:nvSpPr>
        <p:spPr>
          <a:xfrm>
            <a:off x="7525512" y="3712463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1" name="Oval 54"/>
          <p:cNvSpPr/>
          <p:nvPr/>
        </p:nvSpPr>
        <p:spPr>
          <a:xfrm>
            <a:off x="7735824" y="3712463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2" name="Oval 55"/>
          <p:cNvSpPr/>
          <p:nvPr/>
        </p:nvSpPr>
        <p:spPr>
          <a:xfrm>
            <a:off x="7946136" y="3712463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8" name="TextBox 57"/>
          <p:cNvSpPr txBox="1"/>
          <p:nvPr/>
        </p:nvSpPr>
        <p:spPr>
          <a:xfrm>
            <a:off x="7315200" y="3877056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1 of 3</a:t>
            </a:r>
          </a:p>
        </p:txBody>
      </p:sp>
      <p:sp>
        <p:nvSpPr>
          <p:cNvPr id="9009" name="TextBox 57 Pill"/>
          <p:cNvSpPr txBox="1"/>
          <p:nvPr/>
        </p:nvSpPr>
        <p:spPr>
          <a:xfrm>
            <a:off x="8092440" y="3867912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926080" y="417880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1" name="TextBox 59"/>
          <p:cNvSpPr txBox="1"/>
          <p:nvPr/>
        </p:nvSpPr>
        <p:spPr>
          <a:xfrm>
            <a:off x="3017520" y="4178808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  <a:latin typeface="Arial"/>
              </a:rPr>
              <a:t>36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After thirty </a:t>
            </a:r>
            <a:r>
              <a:rPr sz="1200" b="1" i="0">
                <a:solidFill>
                  <a:srgbClr val="3F6E17"/>
                </a:solidFill>
                <a:latin typeface="Arial"/>
              </a:rPr>
              <a:t>laps</a:t>
            </a:r>
            <a:r>
              <a:rPr sz="1200" b="0" i="0">
                <a:solidFill>
                  <a:srgbClr val="222222"/>
                </a:solidFill>
                <a:latin typeface="Arial"/>
              </a:rPr>
              <a:t> of the pool she could barely lift her arms.</a:t>
            </a:r>
          </a:p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sports nouns</a:t>
            </a:r>
          </a:p>
        </p:txBody>
      </p:sp>
      <p:sp>
        <p:nvSpPr>
          <p:cNvPr id="9004" name="Oval 61"/>
          <p:cNvSpPr/>
          <p:nvPr/>
        </p:nvSpPr>
        <p:spPr>
          <a:xfrm>
            <a:off x="7525512" y="4288536"/>
            <a:ext cx="155448" cy="155448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Oval 62"/>
          <p:cNvSpPr/>
          <p:nvPr/>
        </p:nvSpPr>
        <p:spPr>
          <a:xfrm>
            <a:off x="7735824" y="428853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Oval 63"/>
          <p:cNvSpPr/>
          <p:nvPr/>
        </p:nvSpPr>
        <p:spPr>
          <a:xfrm>
            <a:off x="7946136" y="4288536"/>
            <a:ext cx="155448" cy="155448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2" name="TextBox 65"/>
          <p:cNvSpPr txBox="1"/>
          <p:nvPr/>
        </p:nvSpPr>
        <p:spPr>
          <a:xfrm>
            <a:off x="7315200" y="4453128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E08A1E"/>
                </a:solidFill>
                <a:latin typeface="Arial"/>
              </a:rPr>
              <a:t>1 of 3</a:t>
            </a:r>
          </a:p>
        </p:txBody>
      </p:sp>
      <p:sp>
        <p:nvSpPr>
          <p:cNvPr id="9003" name="TextBox 65 Pill"/>
          <p:cNvSpPr txBox="1"/>
          <p:nvPr/>
        </p:nvSpPr>
        <p:spPr>
          <a:xfrm>
            <a:off x="8092440" y="4443984"/>
            <a:ext cx="777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08A1E"/>
                </a:solidFill>
                <a:latin typeface="Arial"/>
              </a:rPr>
              <a:t>not yet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Nobody got these right... yet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THE BIG THREE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9001" name="Rounded Rectangle 100"/>
          <p:cNvSpPr/>
          <p:nvPr/>
        </p:nvSpPr>
        <p:spPr>
          <a:xfrm>
            <a:off x="457200" y="1014984"/>
            <a:ext cx="8229600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2" name="TextBox 110"/>
          <p:cNvSpPr txBox="1"/>
          <p:nvPr/>
        </p:nvSpPr>
        <p:spPr>
          <a:xfrm>
            <a:off x="731520" y="1033272"/>
            <a:ext cx="768096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E08A1E"/>
                </a:solidFill>
                <a:latin typeface="Arial"/>
              </a:rPr>
              <a:t>QUESTION 1  ·  PRESENT CONTINUOUS, TEMPORARY</a:t>
            </a:r>
          </a:p>
        </p:txBody>
      </p:sp>
      <p:sp>
        <p:nvSpPr>
          <p:cNvPr id="9003" name="TextBox 120"/>
          <p:cNvSpPr txBox="1"/>
          <p:nvPr/>
        </p:nvSpPr>
        <p:spPr>
          <a:xfrm>
            <a:off x="731520" y="1289304"/>
            <a:ext cx="768096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Georgia"/>
              </a:rPr>
              <a:t>Nuria </a:t>
            </a:r>
            <a:r>
              <a:rPr sz="1800" b="1" i="0">
                <a:solidFill>
                  <a:srgbClr val="3F6E17"/>
                </a:solidFill>
                <a:latin typeface="Georgia"/>
              </a:rPr>
              <a:t>is worrying</a:t>
            </a:r>
            <a:r>
              <a:rPr sz="1800" b="0" i="0">
                <a:solidFill>
                  <a:srgbClr val="222222"/>
                </a:solidFill>
                <a:latin typeface="Georgia"/>
              </a:rPr>
              <a:t> about her results at the moment, though she is normally calm.</a:t>
            </a:r>
          </a:p>
        </p:txBody>
      </p:sp>
      <p:sp>
        <p:nvSpPr>
          <p:cNvPr id="9004" name="Oval 130"/>
          <p:cNvSpPr/>
          <p:nvPr/>
        </p:nvSpPr>
        <p:spPr>
          <a:xfrm>
            <a:off x="969264" y="1965960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Oval 131"/>
          <p:cNvSpPr/>
          <p:nvPr/>
        </p:nvSpPr>
        <p:spPr>
          <a:xfrm>
            <a:off x="1207008" y="1965960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Oval 132"/>
          <p:cNvSpPr/>
          <p:nvPr/>
        </p:nvSpPr>
        <p:spPr>
          <a:xfrm>
            <a:off x="1444752" y="1965960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7" name="TextBox 140"/>
          <p:cNvSpPr txBox="1"/>
          <p:nvPr/>
        </p:nvSpPr>
        <p:spPr>
          <a:xfrm>
            <a:off x="1874519" y="192024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E08A1E"/>
                </a:solidFill>
                <a:latin typeface="Arial"/>
              </a:rPr>
              <a:t>0 of 3</a:t>
            </a:r>
          </a:p>
        </p:txBody>
      </p:sp>
      <p:sp>
        <p:nvSpPr>
          <p:cNvPr id="9008" name="TextBox 150"/>
          <p:cNvSpPr txBox="1"/>
          <p:nvPr/>
        </p:nvSpPr>
        <p:spPr>
          <a:xfrm>
            <a:off x="4114800" y="1920240"/>
            <a:ext cx="4297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300" b="1" i="0">
                <a:solidFill>
                  <a:srgbClr val="3F6E17"/>
                </a:solidFill>
                <a:latin typeface="Arial"/>
              </a:rPr>
              <a:t>We learn it in Unit 1, Now, through Oct</a:t>
            </a:r>
          </a:p>
        </p:txBody>
      </p:sp>
      <p:sp>
        <p:nvSpPr>
          <p:cNvPr id="9009" name="Rounded Rectangle 101"/>
          <p:cNvSpPr/>
          <p:nvPr/>
        </p:nvSpPr>
        <p:spPr>
          <a:xfrm>
            <a:off x="457200" y="2350008"/>
            <a:ext cx="8229600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0" name="TextBox 111"/>
          <p:cNvSpPr txBox="1"/>
          <p:nvPr/>
        </p:nvSpPr>
        <p:spPr>
          <a:xfrm>
            <a:off x="731520" y="2368296"/>
            <a:ext cx="768096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E08A1E"/>
                </a:solidFill>
                <a:latin typeface="Arial"/>
              </a:rPr>
              <a:t>QUESTION 8  ·  WOULD, REPEATED PAST ACTION</a:t>
            </a:r>
          </a:p>
        </p:txBody>
      </p:sp>
      <p:sp>
        <p:nvSpPr>
          <p:cNvPr id="9011" name="TextBox 121"/>
          <p:cNvSpPr txBox="1"/>
          <p:nvPr/>
        </p:nvSpPr>
        <p:spPr>
          <a:xfrm>
            <a:off x="731520" y="2624328"/>
            <a:ext cx="768096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Georgia"/>
              </a:rPr>
              <a:t>When I was small, we </a:t>
            </a:r>
            <a:r>
              <a:rPr sz="1800" b="1" i="0">
                <a:solidFill>
                  <a:srgbClr val="3F6E17"/>
                </a:solidFill>
                <a:latin typeface="Georgia"/>
              </a:rPr>
              <a:t>would</a:t>
            </a:r>
            <a:r>
              <a:rPr sz="1800" b="0" i="0">
                <a:solidFill>
                  <a:srgbClr val="222222"/>
                </a:solidFill>
                <a:latin typeface="Georgia"/>
              </a:rPr>
              <a:t> spend every March at my grandmother's house for Fallas.</a:t>
            </a:r>
          </a:p>
        </p:txBody>
      </p:sp>
      <p:sp>
        <p:nvSpPr>
          <p:cNvPr id="9012" name="Oval 133"/>
          <p:cNvSpPr/>
          <p:nvPr/>
        </p:nvSpPr>
        <p:spPr>
          <a:xfrm>
            <a:off x="969264" y="3300984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3" name="Oval 134"/>
          <p:cNvSpPr/>
          <p:nvPr/>
        </p:nvSpPr>
        <p:spPr>
          <a:xfrm>
            <a:off x="1207008" y="3300984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4" name="Oval 135"/>
          <p:cNvSpPr/>
          <p:nvPr/>
        </p:nvSpPr>
        <p:spPr>
          <a:xfrm>
            <a:off x="1444752" y="3300984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5" name="TextBox 141"/>
          <p:cNvSpPr txBox="1"/>
          <p:nvPr/>
        </p:nvSpPr>
        <p:spPr>
          <a:xfrm>
            <a:off x="1874519" y="3255264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E08A1E"/>
                </a:solidFill>
                <a:latin typeface="Arial"/>
              </a:rPr>
              <a:t>0 of 3</a:t>
            </a:r>
          </a:p>
        </p:txBody>
      </p:sp>
      <p:sp>
        <p:nvSpPr>
          <p:cNvPr id="9016" name="TextBox 151"/>
          <p:cNvSpPr txBox="1"/>
          <p:nvPr/>
        </p:nvSpPr>
        <p:spPr>
          <a:xfrm>
            <a:off x="4114800" y="3255264"/>
            <a:ext cx="4297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300" b="1" i="0">
                <a:solidFill>
                  <a:srgbClr val="3F6E17"/>
                </a:solidFill>
                <a:latin typeface="Arial"/>
              </a:rPr>
              <a:t>We learn it in Unit 2, Oct to Dec</a:t>
            </a:r>
          </a:p>
        </p:txBody>
      </p:sp>
      <p:sp>
        <p:nvSpPr>
          <p:cNvPr id="9017" name="Rounded Rectangle 102"/>
          <p:cNvSpPr/>
          <p:nvPr/>
        </p:nvSpPr>
        <p:spPr>
          <a:xfrm>
            <a:off x="457200" y="3685032"/>
            <a:ext cx="8229600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8" name="TextBox 112"/>
          <p:cNvSpPr txBox="1"/>
          <p:nvPr/>
        </p:nvSpPr>
        <p:spPr>
          <a:xfrm>
            <a:off x="731520" y="3703320"/>
            <a:ext cx="768096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E08A1E"/>
                </a:solidFill>
                <a:latin typeface="Arial"/>
              </a:rPr>
              <a:t>QUESTION 16  ·  PAST PERFECT BEFORE A PAST POINT</a:t>
            </a:r>
          </a:p>
        </p:txBody>
      </p:sp>
      <p:sp>
        <p:nvSpPr>
          <p:cNvPr id="9019" name="TextBox 122"/>
          <p:cNvSpPr txBox="1"/>
          <p:nvPr/>
        </p:nvSpPr>
        <p:spPr>
          <a:xfrm>
            <a:off x="731520" y="3959352"/>
            <a:ext cx="768096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Georgia"/>
              </a:rPr>
              <a:t>Before he won his first medal, he </a:t>
            </a:r>
            <a:r>
              <a:rPr sz="1800" b="1" i="0">
                <a:solidFill>
                  <a:srgbClr val="3F6E17"/>
                </a:solidFill>
                <a:latin typeface="Georgia"/>
              </a:rPr>
              <a:t>had lost</a:t>
            </a:r>
            <a:r>
              <a:rPr sz="1800" b="0" i="0">
                <a:solidFill>
                  <a:srgbClr val="222222"/>
                </a:solidFill>
                <a:latin typeface="Georgia"/>
              </a:rPr>
              <a:t> three finals.</a:t>
            </a:r>
          </a:p>
        </p:txBody>
      </p:sp>
      <p:sp>
        <p:nvSpPr>
          <p:cNvPr id="9020" name="Oval 136"/>
          <p:cNvSpPr/>
          <p:nvPr/>
        </p:nvSpPr>
        <p:spPr>
          <a:xfrm>
            <a:off x="969264" y="4636008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1" name="Oval 137"/>
          <p:cNvSpPr/>
          <p:nvPr/>
        </p:nvSpPr>
        <p:spPr>
          <a:xfrm>
            <a:off x="1207008" y="4636008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2" name="Oval 138"/>
          <p:cNvSpPr/>
          <p:nvPr/>
        </p:nvSpPr>
        <p:spPr>
          <a:xfrm>
            <a:off x="1444752" y="4636008"/>
            <a:ext cx="182880" cy="182880"/>
          </a:xfrm>
          <a:prstGeom prst="ellipse">
            <a:avLst/>
          </a:prstGeom>
          <a:noFill/>
          <a:ln w="15875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3" name="TextBox 142"/>
          <p:cNvSpPr txBox="1"/>
          <p:nvPr/>
        </p:nvSpPr>
        <p:spPr>
          <a:xfrm>
            <a:off x="1874519" y="4590288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E08A1E"/>
                </a:solidFill>
                <a:latin typeface="Arial"/>
              </a:rPr>
              <a:t>0 of 3</a:t>
            </a:r>
          </a:p>
        </p:txBody>
      </p:sp>
      <p:sp>
        <p:nvSpPr>
          <p:cNvPr id="9024" name="TextBox 152"/>
          <p:cNvSpPr txBox="1"/>
          <p:nvPr/>
        </p:nvSpPr>
        <p:spPr>
          <a:xfrm>
            <a:off x="4114800" y="4590288"/>
            <a:ext cx="4297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300" b="1" i="0">
                <a:solidFill>
                  <a:srgbClr val="3F6E17"/>
                </a:solidFill>
                <a:latin typeface="Arial"/>
              </a:rPr>
              <a:t>We learn it in Unit 3, Jan to Feb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Our year, unit by unit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THE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1280160" cy="2331720"/>
          </a:xfrm>
          <a:prstGeom prst="roundRect">
            <a:avLst>
              <a:gd name="adj" fmla="val 12000"/>
            </a:avLst>
          </a:prstGeom>
          <a:solidFill>
            <a:srgbClr val="6BAE2E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288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11887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Jump for joy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834640"/>
            <a:ext cx="1133856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present simple and continuous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6576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Sep to Oct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28016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E08A1E"/>
                </a:solidFill>
                <a:latin typeface="Arial"/>
              </a:rPr>
              <a:t>YOU ARE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1737360"/>
            <a:ext cx="12801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18288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3F6E17"/>
                </a:solidFill>
                <a:latin typeface="Arial"/>
              </a:rPr>
              <a:t>UNIT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48840"/>
            <a:ext cx="11887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222222"/>
                </a:solidFill>
                <a:latin typeface="Georgia"/>
              </a:rPr>
              <a:t>Global culture?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2834640"/>
            <a:ext cx="1133856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Arial"/>
              </a:rPr>
              <a:t>past simple, past continuous, used to / would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6576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rial"/>
              </a:rPr>
              <a:t>Oct to Dec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1737360"/>
            <a:ext cx="12801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18288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3F6E17"/>
                </a:solidFill>
                <a:latin typeface="Arial"/>
              </a:rPr>
              <a:t>UNIT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148840"/>
            <a:ext cx="11887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222222"/>
                </a:solidFill>
                <a:latin typeface="Georgia"/>
              </a:rPr>
              <a:t>Role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2834640"/>
            <a:ext cx="1133856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Arial"/>
              </a:rPr>
              <a:t>past perfect simple and continuous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6576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rial"/>
              </a:rPr>
              <a:t>Jan to Feb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737360"/>
            <a:ext cx="12801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18288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3F6E17"/>
                </a:solidFill>
                <a:latin typeface="Arial"/>
              </a:rPr>
              <a:t>UNIT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2148840"/>
            <a:ext cx="11887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222222"/>
                </a:solidFill>
                <a:latin typeface="Georgia"/>
              </a:rPr>
              <a:t>City living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2834640"/>
            <a:ext cx="1133856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Arial"/>
              </a:rPr>
              <a:t>future forms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6576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rial"/>
              </a:rPr>
              <a:t>Feb to Mar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1737360"/>
            <a:ext cx="12801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8288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3F6E17"/>
                </a:solidFill>
                <a:latin typeface="Arial"/>
              </a:rPr>
              <a:t>UNIT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148840"/>
            <a:ext cx="11887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222222"/>
                </a:solidFill>
                <a:latin typeface="Georgia"/>
              </a:rPr>
              <a:t>Emerging technologies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3912" y="2834640"/>
            <a:ext cx="1133856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Arial"/>
              </a:rPr>
              <a:t>modals: obligation, probability, deduction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6576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rial"/>
              </a:rPr>
              <a:t>Apr to May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1737360"/>
            <a:ext cx="12801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18288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3F6E17"/>
                </a:solidFill>
                <a:latin typeface="Arial"/>
              </a:rPr>
              <a:t>UNIT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2148840"/>
            <a:ext cx="11887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222222"/>
                </a:solidFill>
                <a:latin typeface="Georgia"/>
              </a:rPr>
              <a:t>Take it easy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1" y="2834640"/>
            <a:ext cx="1133856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Arial"/>
              </a:rPr>
              <a:t>-ing form and infinitives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3657600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rial"/>
              </a:rPr>
              <a:t>May to Jun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297680"/>
            <a:ext cx="83210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0" i="1">
                <a:solidFill>
                  <a:srgbClr val="777777"/>
                </a:solidFill>
                <a:latin typeface="Arial"/>
              </a:rPr>
              <a:t>Months are approximate. In June we do the Level Ladder again and compare.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How each of you did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574036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229971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CLICK A CARD TO SEE WHO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Arial"/>
              </a:rPr>
              <a:t>Letters are random, not a ranking. Click a card to open it.</a:t>
            </a:r>
          </a:p>
        </p:txBody>
      </p:sp>
      <p:sp>
        <p:nvSpPr>
          <p:cNvPr id="9001" name="Rounded Rectangle 200"/>
          <p:cNvSpPr/>
          <p:nvPr/>
        </p:nvSpPr>
        <p:spPr>
          <a:xfrm>
            <a:off x="457200" y="1600200"/>
            <a:ext cx="262128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2" name="TextBox 201"/>
          <p:cNvSpPr txBox="1"/>
          <p:nvPr/>
        </p:nvSpPr>
        <p:spPr>
          <a:xfrm>
            <a:off x="457200" y="1691640"/>
            <a:ext cx="2621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800" b="1" i="0">
                <a:solidFill>
                  <a:srgbClr val="222222"/>
                </a:solidFill>
                <a:latin typeface="Georgia"/>
              </a:rPr>
              <a:t>Student A</a:t>
            </a:r>
          </a:p>
        </p:txBody>
      </p:sp>
      <p:sp>
        <p:nvSpPr>
          <p:cNvPr id="9003" name="TextBox 202"/>
          <p:cNvSpPr txBox="1"/>
          <p:nvPr/>
        </p:nvSpPr>
        <p:spPr>
          <a:xfrm>
            <a:off x="457200" y="2194560"/>
            <a:ext cx="26212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600" b="1" i="0">
                <a:solidFill>
                  <a:srgbClr val="6BAE2E"/>
                </a:solidFill>
                <a:latin typeface="Arial"/>
              </a:rPr>
              <a:t>27/36</a:t>
            </a:r>
          </a:p>
        </p:txBody>
      </p:sp>
      <p:sp>
        <p:nvSpPr>
          <p:cNvPr id="9004" name="TextBox 203"/>
          <p:cNvSpPr txBox="1"/>
          <p:nvPr/>
        </p:nvSpPr>
        <p:spPr>
          <a:xfrm>
            <a:off x="611393" y="279806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U1</a:t>
            </a:r>
          </a:p>
        </p:txBody>
      </p:sp>
      <p:sp>
        <p:nvSpPr>
          <p:cNvPr id="9005" name="Rectangle 204"/>
          <p:cNvSpPr/>
          <p:nvPr/>
        </p:nvSpPr>
        <p:spPr>
          <a:xfrm>
            <a:off x="1197326" y="2852928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Rectangle 205"/>
          <p:cNvSpPr/>
          <p:nvPr/>
        </p:nvSpPr>
        <p:spPr>
          <a:xfrm>
            <a:off x="1197326" y="2852928"/>
            <a:ext cx="10922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7" name="TextBox 206"/>
          <p:cNvSpPr txBox="1"/>
          <p:nvPr/>
        </p:nvSpPr>
        <p:spPr>
          <a:xfrm>
            <a:off x="2507966" y="2798064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9008" name="TextBox 207"/>
          <p:cNvSpPr txBox="1"/>
          <p:nvPr/>
        </p:nvSpPr>
        <p:spPr>
          <a:xfrm>
            <a:off x="611393" y="3054096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U2</a:t>
            </a:r>
          </a:p>
        </p:txBody>
      </p:sp>
      <p:sp>
        <p:nvSpPr>
          <p:cNvPr id="9009" name="Rectangle 208"/>
          <p:cNvSpPr/>
          <p:nvPr/>
        </p:nvSpPr>
        <p:spPr>
          <a:xfrm>
            <a:off x="1197326" y="3108960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0" name="Rectangle 209"/>
          <p:cNvSpPr/>
          <p:nvPr/>
        </p:nvSpPr>
        <p:spPr>
          <a:xfrm>
            <a:off x="1197326" y="3108960"/>
            <a:ext cx="87376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1" name="TextBox 210"/>
          <p:cNvSpPr txBox="1"/>
          <p:nvPr/>
        </p:nvSpPr>
        <p:spPr>
          <a:xfrm>
            <a:off x="2507966" y="3054096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  <p:sp>
        <p:nvSpPr>
          <p:cNvPr id="9012" name="TextBox 211"/>
          <p:cNvSpPr txBox="1"/>
          <p:nvPr/>
        </p:nvSpPr>
        <p:spPr>
          <a:xfrm>
            <a:off x="611393" y="3310128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U3</a:t>
            </a:r>
          </a:p>
        </p:txBody>
      </p:sp>
      <p:sp>
        <p:nvSpPr>
          <p:cNvPr id="9013" name="Rectangle 212"/>
          <p:cNvSpPr/>
          <p:nvPr/>
        </p:nvSpPr>
        <p:spPr>
          <a:xfrm>
            <a:off x="1197326" y="3364992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4" name="Rectangle 213"/>
          <p:cNvSpPr/>
          <p:nvPr/>
        </p:nvSpPr>
        <p:spPr>
          <a:xfrm>
            <a:off x="1197326" y="3364992"/>
            <a:ext cx="10922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5" name="TextBox 214"/>
          <p:cNvSpPr txBox="1"/>
          <p:nvPr/>
        </p:nvSpPr>
        <p:spPr>
          <a:xfrm>
            <a:off x="2507966" y="3310128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9016" name="TextBox 215"/>
          <p:cNvSpPr txBox="1"/>
          <p:nvPr/>
        </p:nvSpPr>
        <p:spPr>
          <a:xfrm>
            <a:off x="611393" y="3566160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U4</a:t>
            </a:r>
          </a:p>
        </p:txBody>
      </p:sp>
      <p:sp>
        <p:nvSpPr>
          <p:cNvPr id="9017" name="Rectangle 216"/>
          <p:cNvSpPr/>
          <p:nvPr/>
        </p:nvSpPr>
        <p:spPr>
          <a:xfrm>
            <a:off x="1197326" y="3621024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8" name="Rectangle 217"/>
          <p:cNvSpPr/>
          <p:nvPr/>
        </p:nvSpPr>
        <p:spPr>
          <a:xfrm>
            <a:off x="1197326" y="3621024"/>
            <a:ext cx="10922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9" name="TextBox 218"/>
          <p:cNvSpPr txBox="1"/>
          <p:nvPr/>
        </p:nvSpPr>
        <p:spPr>
          <a:xfrm>
            <a:off x="2507966" y="3566160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9020" name="TextBox 219"/>
          <p:cNvSpPr txBox="1"/>
          <p:nvPr/>
        </p:nvSpPr>
        <p:spPr>
          <a:xfrm>
            <a:off x="611393" y="3822192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U5</a:t>
            </a:r>
          </a:p>
        </p:txBody>
      </p:sp>
      <p:sp>
        <p:nvSpPr>
          <p:cNvPr id="9021" name="Rectangle 220"/>
          <p:cNvSpPr/>
          <p:nvPr/>
        </p:nvSpPr>
        <p:spPr>
          <a:xfrm>
            <a:off x="1197326" y="3877056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2" name="Rectangle 221"/>
          <p:cNvSpPr/>
          <p:nvPr/>
        </p:nvSpPr>
        <p:spPr>
          <a:xfrm>
            <a:off x="1197326" y="3877056"/>
            <a:ext cx="10922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3" name="TextBox 222"/>
          <p:cNvSpPr txBox="1"/>
          <p:nvPr/>
        </p:nvSpPr>
        <p:spPr>
          <a:xfrm>
            <a:off x="2507966" y="3822192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9024" name="TextBox 223"/>
          <p:cNvSpPr txBox="1"/>
          <p:nvPr/>
        </p:nvSpPr>
        <p:spPr>
          <a:xfrm>
            <a:off x="611393" y="407822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U6</a:t>
            </a:r>
          </a:p>
        </p:txBody>
      </p:sp>
      <p:sp>
        <p:nvSpPr>
          <p:cNvPr id="9025" name="Rectangle 224"/>
          <p:cNvSpPr/>
          <p:nvPr/>
        </p:nvSpPr>
        <p:spPr>
          <a:xfrm>
            <a:off x="1197326" y="4133088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6" name="Rectangle 225"/>
          <p:cNvSpPr/>
          <p:nvPr/>
        </p:nvSpPr>
        <p:spPr>
          <a:xfrm>
            <a:off x="1197326" y="4133088"/>
            <a:ext cx="65532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7" name="TextBox 226"/>
          <p:cNvSpPr txBox="1"/>
          <p:nvPr/>
        </p:nvSpPr>
        <p:spPr>
          <a:xfrm>
            <a:off x="2507966" y="4078224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  <p:sp>
        <p:nvSpPr>
          <p:cNvPr id="9028" name="Rectangle 229">
            <a:hlinkClick action="ppaction://hlinksldjump" r:id="rId4"/>
          </p:cNvPr>
          <p:cNvSpPr/>
          <p:nvPr/>
        </p:nvSpPr>
        <p:spPr>
          <a:xfrm>
            <a:off x="457200" y="1600200"/>
            <a:ext cx="2621280" cy="3063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9" name="Rounded Rectangle 230"/>
          <p:cNvSpPr/>
          <p:nvPr/>
        </p:nvSpPr>
        <p:spPr>
          <a:xfrm>
            <a:off x="3261360" y="1600200"/>
            <a:ext cx="262128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0" name="TextBox 231"/>
          <p:cNvSpPr txBox="1"/>
          <p:nvPr/>
        </p:nvSpPr>
        <p:spPr>
          <a:xfrm>
            <a:off x="3261360" y="1691640"/>
            <a:ext cx="2621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800" b="1" i="0">
                <a:solidFill>
                  <a:srgbClr val="222222"/>
                </a:solidFill>
                <a:latin typeface="Georgia"/>
              </a:rPr>
              <a:t>Student B</a:t>
            </a:r>
          </a:p>
        </p:txBody>
      </p:sp>
      <p:sp>
        <p:nvSpPr>
          <p:cNvPr id="9031" name="TextBox 232"/>
          <p:cNvSpPr txBox="1"/>
          <p:nvPr/>
        </p:nvSpPr>
        <p:spPr>
          <a:xfrm>
            <a:off x="3261360" y="2194560"/>
            <a:ext cx="26212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600" b="1" i="0">
                <a:solidFill>
                  <a:srgbClr val="6BAE2E"/>
                </a:solidFill>
                <a:latin typeface="Arial"/>
              </a:rPr>
              <a:t>19/36</a:t>
            </a:r>
          </a:p>
        </p:txBody>
      </p:sp>
      <p:sp>
        <p:nvSpPr>
          <p:cNvPr id="9032" name="TextBox 233"/>
          <p:cNvSpPr txBox="1"/>
          <p:nvPr/>
        </p:nvSpPr>
        <p:spPr>
          <a:xfrm>
            <a:off x="3415553" y="279806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U1</a:t>
            </a:r>
          </a:p>
        </p:txBody>
      </p:sp>
      <p:sp>
        <p:nvSpPr>
          <p:cNvPr id="9033" name="Rectangle 234"/>
          <p:cNvSpPr/>
          <p:nvPr/>
        </p:nvSpPr>
        <p:spPr>
          <a:xfrm>
            <a:off x="4001486" y="2852928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4" name="Rectangle 235"/>
          <p:cNvSpPr/>
          <p:nvPr/>
        </p:nvSpPr>
        <p:spPr>
          <a:xfrm>
            <a:off x="4001486" y="2852928"/>
            <a:ext cx="10922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5" name="TextBox 236"/>
          <p:cNvSpPr txBox="1"/>
          <p:nvPr/>
        </p:nvSpPr>
        <p:spPr>
          <a:xfrm>
            <a:off x="5312126" y="2798064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9036" name="TextBox 237"/>
          <p:cNvSpPr txBox="1"/>
          <p:nvPr/>
        </p:nvSpPr>
        <p:spPr>
          <a:xfrm>
            <a:off x="3415553" y="3054096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U2</a:t>
            </a:r>
          </a:p>
        </p:txBody>
      </p:sp>
      <p:sp>
        <p:nvSpPr>
          <p:cNvPr id="9037" name="Rectangle 238"/>
          <p:cNvSpPr/>
          <p:nvPr/>
        </p:nvSpPr>
        <p:spPr>
          <a:xfrm>
            <a:off x="4001486" y="3108960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8" name="Rectangle 239"/>
          <p:cNvSpPr/>
          <p:nvPr/>
        </p:nvSpPr>
        <p:spPr>
          <a:xfrm>
            <a:off x="4001486" y="3108960"/>
            <a:ext cx="65532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9" name="TextBox 240"/>
          <p:cNvSpPr txBox="1"/>
          <p:nvPr/>
        </p:nvSpPr>
        <p:spPr>
          <a:xfrm>
            <a:off x="5312126" y="3054096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  <p:sp>
        <p:nvSpPr>
          <p:cNvPr id="9040" name="TextBox 241"/>
          <p:cNvSpPr txBox="1"/>
          <p:nvPr/>
        </p:nvSpPr>
        <p:spPr>
          <a:xfrm>
            <a:off x="3415553" y="3310128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U3</a:t>
            </a:r>
          </a:p>
        </p:txBody>
      </p:sp>
      <p:sp>
        <p:nvSpPr>
          <p:cNvPr id="9041" name="Rectangle 242"/>
          <p:cNvSpPr/>
          <p:nvPr/>
        </p:nvSpPr>
        <p:spPr>
          <a:xfrm>
            <a:off x="4001486" y="3364992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2" name="Rectangle 243"/>
          <p:cNvSpPr/>
          <p:nvPr/>
        </p:nvSpPr>
        <p:spPr>
          <a:xfrm>
            <a:off x="4001486" y="3364992"/>
            <a:ext cx="65532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3" name="TextBox 244"/>
          <p:cNvSpPr txBox="1"/>
          <p:nvPr/>
        </p:nvSpPr>
        <p:spPr>
          <a:xfrm>
            <a:off x="5312126" y="3310128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  <p:sp>
        <p:nvSpPr>
          <p:cNvPr id="9044" name="TextBox 245"/>
          <p:cNvSpPr txBox="1"/>
          <p:nvPr/>
        </p:nvSpPr>
        <p:spPr>
          <a:xfrm>
            <a:off x="3415553" y="3566160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U4</a:t>
            </a:r>
          </a:p>
        </p:txBody>
      </p:sp>
      <p:sp>
        <p:nvSpPr>
          <p:cNvPr id="9045" name="Rectangle 246"/>
          <p:cNvSpPr/>
          <p:nvPr/>
        </p:nvSpPr>
        <p:spPr>
          <a:xfrm>
            <a:off x="4001486" y="3621024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6" name="Rectangle 247"/>
          <p:cNvSpPr/>
          <p:nvPr/>
        </p:nvSpPr>
        <p:spPr>
          <a:xfrm>
            <a:off x="4001486" y="3621024"/>
            <a:ext cx="43688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7" name="TextBox 248"/>
          <p:cNvSpPr txBox="1"/>
          <p:nvPr/>
        </p:nvSpPr>
        <p:spPr>
          <a:xfrm>
            <a:off x="5312126" y="3566160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2</a:t>
            </a:r>
          </a:p>
        </p:txBody>
      </p:sp>
      <p:sp>
        <p:nvSpPr>
          <p:cNvPr id="9048" name="TextBox 249"/>
          <p:cNvSpPr txBox="1"/>
          <p:nvPr/>
        </p:nvSpPr>
        <p:spPr>
          <a:xfrm>
            <a:off x="3415553" y="3822192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U5</a:t>
            </a:r>
          </a:p>
        </p:txBody>
      </p:sp>
      <p:sp>
        <p:nvSpPr>
          <p:cNvPr id="9049" name="Rectangle 250"/>
          <p:cNvSpPr/>
          <p:nvPr/>
        </p:nvSpPr>
        <p:spPr>
          <a:xfrm>
            <a:off x="4001486" y="3877056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0" name="Rectangle 251"/>
          <p:cNvSpPr/>
          <p:nvPr/>
        </p:nvSpPr>
        <p:spPr>
          <a:xfrm>
            <a:off x="4001486" y="3877056"/>
            <a:ext cx="43688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1" name="TextBox 252"/>
          <p:cNvSpPr txBox="1"/>
          <p:nvPr/>
        </p:nvSpPr>
        <p:spPr>
          <a:xfrm>
            <a:off x="5312126" y="3822192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2</a:t>
            </a:r>
          </a:p>
        </p:txBody>
      </p:sp>
      <p:sp>
        <p:nvSpPr>
          <p:cNvPr id="9052" name="TextBox 253"/>
          <p:cNvSpPr txBox="1"/>
          <p:nvPr/>
        </p:nvSpPr>
        <p:spPr>
          <a:xfrm>
            <a:off x="3415553" y="407822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U6</a:t>
            </a:r>
          </a:p>
        </p:txBody>
      </p:sp>
      <p:sp>
        <p:nvSpPr>
          <p:cNvPr id="9053" name="Rectangle 254"/>
          <p:cNvSpPr/>
          <p:nvPr/>
        </p:nvSpPr>
        <p:spPr>
          <a:xfrm>
            <a:off x="4001486" y="4133088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4" name="Rectangle 255"/>
          <p:cNvSpPr/>
          <p:nvPr/>
        </p:nvSpPr>
        <p:spPr>
          <a:xfrm>
            <a:off x="4001486" y="4133088"/>
            <a:ext cx="87376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5" name="TextBox 256"/>
          <p:cNvSpPr txBox="1"/>
          <p:nvPr/>
        </p:nvSpPr>
        <p:spPr>
          <a:xfrm>
            <a:off x="5312126" y="4078224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  <p:sp>
        <p:nvSpPr>
          <p:cNvPr id="9056" name="Rectangle 259">
            <a:hlinkClick action="ppaction://hlinksldjump" r:id="rId5"/>
          </p:cNvPr>
          <p:cNvSpPr/>
          <p:nvPr/>
        </p:nvSpPr>
        <p:spPr>
          <a:xfrm>
            <a:off x="3261360" y="1600200"/>
            <a:ext cx="2621280" cy="3063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7" name="Rounded Rectangle 260"/>
          <p:cNvSpPr/>
          <p:nvPr/>
        </p:nvSpPr>
        <p:spPr>
          <a:xfrm>
            <a:off x="6065520" y="1600200"/>
            <a:ext cx="262128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A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8" name="TextBox 261"/>
          <p:cNvSpPr txBox="1"/>
          <p:nvPr/>
        </p:nvSpPr>
        <p:spPr>
          <a:xfrm>
            <a:off x="6065520" y="1691640"/>
            <a:ext cx="2621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800" b="1" i="0">
                <a:solidFill>
                  <a:srgbClr val="222222"/>
                </a:solidFill>
                <a:latin typeface="Georgia"/>
              </a:rPr>
              <a:t>Student C</a:t>
            </a:r>
          </a:p>
        </p:txBody>
      </p:sp>
      <p:sp>
        <p:nvSpPr>
          <p:cNvPr id="9059" name="TextBox 262"/>
          <p:cNvSpPr txBox="1"/>
          <p:nvPr/>
        </p:nvSpPr>
        <p:spPr>
          <a:xfrm>
            <a:off x="6065520" y="2194560"/>
            <a:ext cx="26212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600" b="1" i="0">
                <a:solidFill>
                  <a:srgbClr val="6BAE2E"/>
                </a:solidFill>
                <a:latin typeface="Arial"/>
              </a:rPr>
              <a:t>24/36</a:t>
            </a:r>
          </a:p>
        </p:txBody>
      </p:sp>
      <p:sp>
        <p:nvSpPr>
          <p:cNvPr id="9060" name="TextBox 263"/>
          <p:cNvSpPr txBox="1"/>
          <p:nvPr/>
        </p:nvSpPr>
        <p:spPr>
          <a:xfrm>
            <a:off x="6219713" y="279806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U1</a:t>
            </a:r>
          </a:p>
        </p:txBody>
      </p:sp>
      <p:sp>
        <p:nvSpPr>
          <p:cNvPr id="9061" name="Rectangle 264"/>
          <p:cNvSpPr/>
          <p:nvPr/>
        </p:nvSpPr>
        <p:spPr>
          <a:xfrm>
            <a:off x="6805646" y="2852928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2" name="Rectangle 265"/>
          <p:cNvSpPr/>
          <p:nvPr/>
        </p:nvSpPr>
        <p:spPr>
          <a:xfrm>
            <a:off x="6805646" y="2852928"/>
            <a:ext cx="10922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3" name="TextBox 266"/>
          <p:cNvSpPr txBox="1"/>
          <p:nvPr/>
        </p:nvSpPr>
        <p:spPr>
          <a:xfrm>
            <a:off x="8116286" y="2798064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9064" name="TextBox 267"/>
          <p:cNvSpPr txBox="1"/>
          <p:nvPr/>
        </p:nvSpPr>
        <p:spPr>
          <a:xfrm>
            <a:off x="6219713" y="3054096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U2</a:t>
            </a:r>
          </a:p>
        </p:txBody>
      </p:sp>
      <p:sp>
        <p:nvSpPr>
          <p:cNvPr id="9065" name="Rectangle 268"/>
          <p:cNvSpPr/>
          <p:nvPr/>
        </p:nvSpPr>
        <p:spPr>
          <a:xfrm>
            <a:off x="6805646" y="3108960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6" name="Rectangle 269"/>
          <p:cNvSpPr/>
          <p:nvPr/>
        </p:nvSpPr>
        <p:spPr>
          <a:xfrm>
            <a:off x="6805646" y="3108960"/>
            <a:ext cx="65532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7" name="TextBox 270"/>
          <p:cNvSpPr txBox="1"/>
          <p:nvPr/>
        </p:nvSpPr>
        <p:spPr>
          <a:xfrm>
            <a:off x="8116286" y="3054096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  <p:sp>
        <p:nvSpPr>
          <p:cNvPr id="9068" name="TextBox 271"/>
          <p:cNvSpPr txBox="1"/>
          <p:nvPr/>
        </p:nvSpPr>
        <p:spPr>
          <a:xfrm>
            <a:off x="6219713" y="3310128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U3</a:t>
            </a:r>
          </a:p>
        </p:txBody>
      </p:sp>
      <p:sp>
        <p:nvSpPr>
          <p:cNvPr id="9069" name="Rectangle 272"/>
          <p:cNvSpPr/>
          <p:nvPr/>
        </p:nvSpPr>
        <p:spPr>
          <a:xfrm>
            <a:off x="6805646" y="3364992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0" name="Rectangle 273"/>
          <p:cNvSpPr/>
          <p:nvPr/>
        </p:nvSpPr>
        <p:spPr>
          <a:xfrm>
            <a:off x="6805646" y="3364992"/>
            <a:ext cx="87376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1" name="TextBox 274"/>
          <p:cNvSpPr txBox="1"/>
          <p:nvPr/>
        </p:nvSpPr>
        <p:spPr>
          <a:xfrm>
            <a:off x="8116286" y="3310128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  <p:sp>
        <p:nvSpPr>
          <p:cNvPr id="9072" name="TextBox 275"/>
          <p:cNvSpPr txBox="1"/>
          <p:nvPr/>
        </p:nvSpPr>
        <p:spPr>
          <a:xfrm>
            <a:off x="6219713" y="3566160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U4</a:t>
            </a:r>
          </a:p>
        </p:txBody>
      </p:sp>
      <p:sp>
        <p:nvSpPr>
          <p:cNvPr id="9073" name="Rectangle 276"/>
          <p:cNvSpPr/>
          <p:nvPr/>
        </p:nvSpPr>
        <p:spPr>
          <a:xfrm>
            <a:off x="6805646" y="3621024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4" name="Rectangle 277"/>
          <p:cNvSpPr/>
          <p:nvPr/>
        </p:nvSpPr>
        <p:spPr>
          <a:xfrm>
            <a:off x="6805646" y="3621024"/>
            <a:ext cx="65532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5" name="TextBox 278"/>
          <p:cNvSpPr txBox="1"/>
          <p:nvPr/>
        </p:nvSpPr>
        <p:spPr>
          <a:xfrm>
            <a:off x="8116286" y="3566160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  <p:sp>
        <p:nvSpPr>
          <p:cNvPr id="9076" name="TextBox 279"/>
          <p:cNvSpPr txBox="1"/>
          <p:nvPr/>
        </p:nvSpPr>
        <p:spPr>
          <a:xfrm>
            <a:off x="6219713" y="3822192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U5</a:t>
            </a:r>
          </a:p>
        </p:txBody>
      </p:sp>
      <p:sp>
        <p:nvSpPr>
          <p:cNvPr id="9077" name="Rectangle 280"/>
          <p:cNvSpPr/>
          <p:nvPr/>
        </p:nvSpPr>
        <p:spPr>
          <a:xfrm>
            <a:off x="6805646" y="3877056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8" name="Rectangle 281"/>
          <p:cNvSpPr/>
          <p:nvPr/>
        </p:nvSpPr>
        <p:spPr>
          <a:xfrm>
            <a:off x="6805646" y="3877056"/>
            <a:ext cx="109220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9" name="TextBox 282"/>
          <p:cNvSpPr txBox="1"/>
          <p:nvPr/>
        </p:nvSpPr>
        <p:spPr>
          <a:xfrm>
            <a:off x="8116286" y="3822192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  <p:sp>
        <p:nvSpPr>
          <p:cNvPr id="9080" name="TextBox 283"/>
          <p:cNvSpPr txBox="1"/>
          <p:nvPr/>
        </p:nvSpPr>
        <p:spPr>
          <a:xfrm>
            <a:off x="6219713" y="4078224"/>
            <a:ext cx="365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  <a:latin typeface="Arial"/>
              </a:rPr>
              <a:t>U6</a:t>
            </a:r>
          </a:p>
        </p:txBody>
      </p:sp>
      <p:sp>
        <p:nvSpPr>
          <p:cNvPr id="9081" name="Rectangle 284"/>
          <p:cNvSpPr/>
          <p:nvPr/>
        </p:nvSpPr>
        <p:spPr>
          <a:xfrm>
            <a:off x="6805646" y="4133088"/>
            <a:ext cx="1310640" cy="128016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2" name="Rectangle 285"/>
          <p:cNvSpPr/>
          <p:nvPr/>
        </p:nvSpPr>
        <p:spPr>
          <a:xfrm>
            <a:off x="6805646" y="4133088"/>
            <a:ext cx="873760" cy="12801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3" name="TextBox 286"/>
          <p:cNvSpPr txBox="1"/>
          <p:nvPr/>
        </p:nvSpPr>
        <p:spPr>
          <a:xfrm>
            <a:off x="8116286" y="4078224"/>
            <a:ext cx="539675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  <p:sp>
        <p:nvSpPr>
          <p:cNvPr id="9084" name="Rectangle 289">
            <a:hlinkClick action="ppaction://hlinksldjump" r:id="rId6"/>
          </p:cNvPr>
          <p:cNvSpPr/>
          <p:nvPr/>
        </p:nvSpPr>
        <p:spPr>
          <a:xfrm>
            <a:off x="6065520" y="1600200"/>
            <a:ext cx="2621280" cy="3063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Student A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PERSONAL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6517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1" name="TextBox 8"/>
          <p:cNvSpPr txBox="1"/>
          <p:nvPr/>
        </p:nvSpPr>
        <p:spPr>
          <a:xfrm>
            <a:off x="457200" y="13258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THIS IS</a:t>
            </a:r>
          </a:p>
        </p:txBody>
      </p:sp>
      <p:sp>
        <p:nvSpPr>
          <p:cNvPr id="9002" name="TextBox 9"/>
          <p:cNvSpPr txBox="1"/>
          <p:nvPr/>
        </p:nvSpPr>
        <p:spPr>
          <a:xfrm>
            <a:off x="457200" y="1600200"/>
            <a:ext cx="2377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Georgia"/>
              </a:rPr>
              <a:t>Martina</a:t>
            </a:r>
          </a:p>
        </p:txBody>
      </p:sp>
      <p:sp>
        <p:nvSpPr>
          <p:cNvPr id="9003" name="TextBox 10"/>
          <p:cNvSpPr txBox="1"/>
          <p:nvPr/>
        </p:nvSpPr>
        <p:spPr>
          <a:xfrm>
            <a:off x="457200" y="2331720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4000" b="1" i="0">
                <a:solidFill>
                  <a:srgbClr val="6BAE2E"/>
                </a:solidFill>
                <a:latin typeface="Arial"/>
              </a:rPr>
              <a:t>27/36</a:t>
            </a:r>
          </a:p>
        </p:txBody>
      </p:sp>
      <p:sp>
        <p:nvSpPr>
          <p:cNvPr id="9004" name="TextBox 11"/>
          <p:cNvSpPr txBox="1"/>
          <p:nvPr/>
        </p:nvSpPr>
        <p:spPr>
          <a:xfrm>
            <a:off x="457200" y="31546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STRONGEST PART</a:t>
            </a:r>
          </a:p>
        </p:txBody>
      </p:sp>
      <p:sp>
        <p:nvSpPr>
          <p:cNvPr id="9005" name="TextBox 12"/>
          <p:cNvSpPr txBox="1"/>
          <p:nvPr/>
        </p:nvSpPr>
        <p:spPr>
          <a:xfrm>
            <a:off x="457200" y="342900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Unit 4: City living</a:t>
            </a:r>
          </a:p>
        </p:txBody>
      </p:sp>
      <p:sp>
        <p:nvSpPr>
          <p:cNvPr id="9006" name="Rounded Rectangle 13">
            <a:hlinkClick action="ppaction://hlinksldjump" r:id="rId3"/>
          </p:cNvPr>
          <p:cNvSpPr/>
          <p:nvPr/>
        </p:nvSpPr>
        <p:spPr>
          <a:xfrm>
            <a:off x="502920" y="4114800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3F6E17"/>
                </a:solidFill>
                <a:latin typeface="Arial"/>
              </a:rPr>
              <a:t>Back to all cards</a:t>
            </a:r>
          </a:p>
        </p:txBody>
      </p:sp>
      <p:sp>
        <p:nvSpPr>
          <p:cNvPr id="9007" name="TextBox 200"/>
          <p:cNvSpPr txBox="1"/>
          <p:nvPr/>
        </p:nvSpPr>
        <p:spPr>
          <a:xfrm>
            <a:off x="3200400" y="123444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1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Jump for joy</a:t>
            </a:r>
          </a:p>
        </p:txBody>
      </p:sp>
      <p:sp>
        <p:nvSpPr>
          <p:cNvPr id="9008" name="Rectangle 201"/>
          <p:cNvSpPr/>
          <p:nvPr/>
        </p:nvSpPr>
        <p:spPr>
          <a:xfrm>
            <a:off x="5440680" y="132588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9" name="Rectangle 202"/>
          <p:cNvSpPr/>
          <p:nvPr/>
        </p:nvSpPr>
        <p:spPr>
          <a:xfrm>
            <a:off x="5440680" y="1325880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0" name="TextBox 203"/>
          <p:cNvSpPr txBox="1"/>
          <p:nvPr/>
        </p:nvSpPr>
        <p:spPr>
          <a:xfrm>
            <a:off x="7909560" y="123444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9011" name="TextBox 210"/>
          <p:cNvSpPr txBox="1"/>
          <p:nvPr/>
        </p:nvSpPr>
        <p:spPr>
          <a:xfrm>
            <a:off x="3200400" y="155448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2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Global culture?</a:t>
            </a:r>
          </a:p>
        </p:txBody>
      </p:sp>
      <p:sp>
        <p:nvSpPr>
          <p:cNvPr id="9012" name="Rectangle 211"/>
          <p:cNvSpPr/>
          <p:nvPr/>
        </p:nvSpPr>
        <p:spPr>
          <a:xfrm>
            <a:off x="5440680" y="164592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3" name="Rectangle 212"/>
          <p:cNvSpPr/>
          <p:nvPr/>
        </p:nvSpPr>
        <p:spPr>
          <a:xfrm>
            <a:off x="5440680" y="1645920"/>
            <a:ext cx="158496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4" name="TextBox 213"/>
          <p:cNvSpPr txBox="1"/>
          <p:nvPr/>
        </p:nvSpPr>
        <p:spPr>
          <a:xfrm>
            <a:off x="7909560" y="155448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9015" name="TextBox 220"/>
          <p:cNvSpPr txBox="1"/>
          <p:nvPr/>
        </p:nvSpPr>
        <p:spPr>
          <a:xfrm>
            <a:off x="3200400" y="187452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3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Role models</a:t>
            </a:r>
          </a:p>
        </p:txBody>
      </p:sp>
      <p:sp>
        <p:nvSpPr>
          <p:cNvPr id="9016" name="Rectangle 221"/>
          <p:cNvSpPr/>
          <p:nvPr/>
        </p:nvSpPr>
        <p:spPr>
          <a:xfrm>
            <a:off x="5440680" y="196596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7" name="Rectangle 222"/>
          <p:cNvSpPr/>
          <p:nvPr/>
        </p:nvSpPr>
        <p:spPr>
          <a:xfrm>
            <a:off x="5440680" y="1965960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8" name="TextBox 223"/>
          <p:cNvSpPr txBox="1"/>
          <p:nvPr/>
        </p:nvSpPr>
        <p:spPr>
          <a:xfrm>
            <a:off x="7909560" y="187452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9019" name="TextBox 230"/>
          <p:cNvSpPr txBox="1"/>
          <p:nvPr/>
        </p:nvSpPr>
        <p:spPr>
          <a:xfrm>
            <a:off x="3200400" y="219456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4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City living</a:t>
            </a:r>
          </a:p>
        </p:txBody>
      </p:sp>
      <p:sp>
        <p:nvSpPr>
          <p:cNvPr id="9020" name="Rectangle 231"/>
          <p:cNvSpPr/>
          <p:nvPr/>
        </p:nvSpPr>
        <p:spPr>
          <a:xfrm>
            <a:off x="5440680" y="228600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1" name="Rectangle 232"/>
          <p:cNvSpPr/>
          <p:nvPr/>
        </p:nvSpPr>
        <p:spPr>
          <a:xfrm>
            <a:off x="5440680" y="2286000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2" name="TextBox 233"/>
          <p:cNvSpPr txBox="1"/>
          <p:nvPr/>
        </p:nvSpPr>
        <p:spPr>
          <a:xfrm>
            <a:off x="7909560" y="219456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9023" name="TextBox 240"/>
          <p:cNvSpPr txBox="1"/>
          <p:nvPr/>
        </p:nvSpPr>
        <p:spPr>
          <a:xfrm>
            <a:off x="3200400" y="251460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5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Emerging technologies</a:t>
            </a:r>
          </a:p>
        </p:txBody>
      </p:sp>
      <p:sp>
        <p:nvSpPr>
          <p:cNvPr id="9024" name="Rectangle 241"/>
          <p:cNvSpPr/>
          <p:nvPr/>
        </p:nvSpPr>
        <p:spPr>
          <a:xfrm>
            <a:off x="5440680" y="260604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5" name="Rectangle 242"/>
          <p:cNvSpPr/>
          <p:nvPr/>
        </p:nvSpPr>
        <p:spPr>
          <a:xfrm>
            <a:off x="5440680" y="2606040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6" name="TextBox 243"/>
          <p:cNvSpPr txBox="1"/>
          <p:nvPr/>
        </p:nvSpPr>
        <p:spPr>
          <a:xfrm>
            <a:off x="7909560" y="251460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9027" name="TextBox 250"/>
          <p:cNvSpPr txBox="1"/>
          <p:nvPr/>
        </p:nvSpPr>
        <p:spPr>
          <a:xfrm>
            <a:off x="3200400" y="283464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6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Take it easy</a:t>
            </a:r>
          </a:p>
        </p:txBody>
      </p:sp>
      <p:sp>
        <p:nvSpPr>
          <p:cNvPr id="9028" name="Rectangle 251"/>
          <p:cNvSpPr/>
          <p:nvPr/>
        </p:nvSpPr>
        <p:spPr>
          <a:xfrm>
            <a:off x="5440680" y="292608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9" name="Rectangle 252"/>
          <p:cNvSpPr/>
          <p:nvPr/>
        </p:nvSpPr>
        <p:spPr>
          <a:xfrm>
            <a:off x="5440680" y="2926080"/>
            <a:ext cx="118872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0" name="TextBox 253"/>
          <p:cNvSpPr txBox="1"/>
          <p:nvPr/>
        </p:nvSpPr>
        <p:spPr>
          <a:xfrm>
            <a:off x="7909560" y="283464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9031" name="TextBox 38"/>
          <p:cNvSpPr txBox="1"/>
          <p:nvPr/>
        </p:nvSpPr>
        <p:spPr>
          <a:xfrm>
            <a:off x="3200400" y="329184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E08A1E"/>
                </a:solidFill>
                <a:latin typeface="Arial"/>
              </a:rPr>
              <a:t>YOUR NEXT THREE TARGETS</a:t>
            </a:r>
          </a:p>
        </p:txBody>
      </p:sp>
      <p:sp>
        <p:nvSpPr>
          <p:cNvPr id="9032" name="TextBox 260"/>
          <p:cNvSpPr txBox="1"/>
          <p:nvPr/>
        </p:nvSpPr>
        <p:spPr>
          <a:xfrm>
            <a:off x="3200400" y="3538728"/>
            <a:ext cx="5669280" cy="426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1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Nuria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is worrying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about her results at the moment, though she is normally calm.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1, now</a:t>
            </a:r>
          </a:p>
        </p:txBody>
      </p:sp>
      <p:sp>
        <p:nvSpPr>
          <p:cNvPr id="9033" name="TextBox 261"/>
          <p:cNvSpPr txBox="1"/>
          <p:nvPr/>
        </p:nvSpPr>
        <p:spPr>
          <a:xfrm>
            <a:off x="3200400" y="3965448"/>
            <a:ext cx="5669280" cy="426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8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When I was small, we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would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spend every March at my grandmother's house for Fallas.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2, Oct to Dec</a:t>
            </a:r>
          </a:p>
        </p:txBody>
      </p:sp>
      <p:sp>
        <p:nvSpPr>
          <p:cNvPr id="9034" name="TextBox 262"/>
          <p:cNvSpPr txBox="1"/>
          <p:nvPr/>
        </p:nvSpPr>
        <p:spPr>
          <a:xfrm>
            <a:off x="3200400" y="4392168"/>
            <a:ext cx="5669280" cy="426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12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Thousands of people line the streets to watch the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parade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go past.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2, Oct to Dec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Student B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PERSONAL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6517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5" name="TextBox 8"/>
          <p:cNvSpPr txBox="1"/>
          <p:nvPr/>
        </p:nvSpPr>
        <p:spPr>
          <a:xfrm>
            <a:off x="457200" y="13258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THIS IS</a:t>
            </a:r>
          </a:p>
        </p:txBody>
      </p:sp>
      <p:sp>
        <p:nvSpPr>
          <p:cNvPr id="9036" name="TextBox 9"/>
          <p:cNvSpPr txBox="1"/>
          <p:nvPr/>
        </p:nvSpPr>
        <p:spPr>
          <a:xfrm>
            <a:off x="457200" y="1600200"/>
            <a:ext cx="2377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Georgia"/>
              </a:rPr>
              <a:t>Isabella</a:t>
            </a:r>
          </a:p>
        </p:txBody>
      </p:sp>
      <p:sp>
        <p:nvSpPr>
          <p:cNvPr id="9037" name="TextBox 10"/>
          <p:cNvSpPr txBox="1"/>
          <p:nvPr/>
        </p:nvSpPr>
        <p:spPr>
          <a:xfrm>
            <a:off x="457200" y="2331720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4000" b="1" i="0">
                <a:solidFill>
                  <a:srgbClr val="6BAE2E"/>
                </a:solidFill>
                <a:latin typeface="Arial"/>
              </a:rPr>
              <a:t>19/36</a:t>
            </a:r>
          </a:p>
        </p:txBody>
      </p:sp>
      <p:sp>
        <p:nvSpPr>
          <p:cNvPr id="9038" name="TextBox 11"/>
          <p:cNvSpPr txBox="1"/>
          <p:nvPr/>
        </p:nvSpPr>
        <p:spPr>
          <a:xfrm>
            <a:off x="457200" y="31546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STRONGEST PART</a:t>
            </a:r>
          </a:p>
        </p:txBody>
      </p:sp>
      <p:sp>
        <p:nvSpPr>
          <p:cNvPr id="9039" name="TextBox 12"/>
          <p:cNvSpPr txBox="1"/>
          <p:nvPr/>
        </p:nvSpPr>
        <p:spPr>
          <a:xfrm>
            <a:off x="457200" y="342900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Unit 6: Take it easy</a:t>
            </a:r>
          </a:p>
        </p:txBody>
      </p:sp>
      <p:sp>
        <p:nvSpPr>
          <p:cNvPr id="9040" name="Rounded Rectangle 13">
            <a:hlinkClick action="ppaction://hlinksldjump" r:id="rId3"/>
          </p:cNvPr>
          <p:cNvSpPr/>
          <p:nvPr/>
        </p:nvSpPr>
        <p:spPr>
          <a:xfrm>
            <a:off x="502920" y="4114800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3F6E17"/>
                </a:solidFill>
                <a:latin typeface="Arial"/>
              </a:rPr>
              <a:t>Back to all cards</a:t>
            </a:r>
          </a:p>
        </p:txBody>
      </p:sp>
      <p:sp>
        <p:nvSpPr>
          <p:cNvPr id="9041" name="TextBox 200"/>
          <p:cNvSpPr txBox="1"/>
          <p:nvPr/>
        </p:nvSpPr>
        <p:spPr>
          <a:xfrm>
            <a:off x="3200400" y="123444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1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Jump for joy</a:t>
            </a:r>
          </a:p>
        </p:txBody>
      </p:sp>
      <p:sp>
        <p:nvSpPr>
          <p:cNvPr id="9042" name="Rectangle 201"/>
          <p:cNvSpPr/>
          <p:nvPr/>
        </p:nvSpPr>
        <p:spPr>
          <a:xfrm>
            <a:off x="5440680" y="132588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3" name="Rectangle 202"/>
          <p:cNvSpPr/>
          <p:nvPr/>
        </p:nvSpPr>
        <p:spPr>
          <a:xfrm>
            <a:off x="5440680" y="1325880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4" name="TextBox 203"/>
          <p:cNvSpPr txBox="1"/>
          <p:nvPr/>
        </p:nvSpPr>
        <p:spPr>
          <a:xfrm>
            <a:off x="7909560" y="123444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9045" name="TextBox 210"/>
          <p:cNvSpPr txBox="1"/>
          <p:nvPr/>
        </p:nvSpPr>
        <p:spPr>
          <a:xfrm>
            <a:off x="3200400" y="155448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2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Global culture?</a:t>
            </a:r>
          </a:p>
        </p:txBody>
      </p:sp>
      <p:sp>
        <p:nvSpPr>
          <p:cNvPr id="9046" name="Rectangle 211"/>
          <p:cNvSpPr/>
          <p:nvPr/>
        </p:nvSpPr>
        <p:spPr>
          <a:xfrm>
            <a:off x="5440680" y="164592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7" name="Rectangle 212"/>
          <p:cNvSpPr/>
          <p:nvPr/>
        </p:nvSpPr>
        <p:spPr>
          <a:xfrm>
            <a:off x="5440680" y="1645920"/>
            <a:ext cx="118872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8" name="TextBox 213"/>
          <p:cNvSpPr txBox="1"/>
          <p:nvPr/>
        </p:nvSpPr>
        <p:spPr>
          <a:xfrm>
            <a:off x="7909560" y="155448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9049" name="TextBox 220"/>
          <p:cNvSpPr txBox="1"/>
          <p:nvPr/>
        </p:nvSpPr>
        <p:spPr>
          <a:xfrm>
            <a:off x="3200400" y="187452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3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Role models</a:t>
            </a:r>
          </a:p>
        </p:txBody>
      </p:sp>
      <p:sp>
        <p:nvSpPr>
          <p:cNvPr id="9050" name="Rectangle 221"/>
          <p:cNvSpPr/>
          <p:nvPr/>
        </p:nvSpPr>
        <p:spPr>
          <a:xfrm>
            <a:off x="5440680" y="196596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1" name="Rectangle 222"/>
          <p:cNvSpPr/>
          <p:nvPr/>
        </p:nvSpPr>
        <p:spPr>
          <a:xfrm>
            <a:off x="5440680" y="1965960"/>
            <a:ext cx="118872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2" name="TextBox 223"/>
          <p:cNvSpPr txBox="1"/>
          <p:nvPr/>
        </p:nvSpPr>
        <p:spPr>
          <a:xfrm>
            <a:off x="7909560" y="187452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9053" name="TextBox 230"/>
          <p:cNvSpPr txBox="1"/>
          <p:nvPr/>
        </p:nvSpPr>
        <p:spPr>
          <a:xfrm>
            <a:off x="3200400" y="219456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4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City living</a:t>
            </a:r>
          </a:p>
        </p:txBody>
      </p:sp>
      <p:sp>
        <p:nvSpPr>
          <p:cNvPr id="9054" name="Rectangle 231"/>
          <p:cNvSpPr/>
          <p:nvPr/>
        </p:nvSpPr>
        <p:spPr>
          <a:xfrm>
            <a:off x="5440680" y="228600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5" name="Rectangle 232"/>
          <p:cNvSpPr/>
          <p:nvPr/>
        </p:nvSpPr>
        <p:spPr>
          <a:xfrm>
            <a:off x="5440680" y="2286000"/>
            <a:ext cx="79248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6" name="TextBox 233"/>
          <p:cNvSpPr txBox="1"/>
          <p:nvPr/>
        </p:nvSpPr>
        <p:spPr>
          <a:xfrm>
            <a:off x="7909560" y="219456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2/6</a:t>
            </a:r>
          </a:p>
        </p:txBody>
      </p:sp>
      <p:sp>
        <p:nvSpPr>
          <p:cNvPr id="9057" name="TextBox 240"/>
          <p:cNvSpPr txBox="1"/>
          <p:nvPr/>
        </p:nvSpPr>
        <p:spPr>
          <a:xfrm>
            <a:off x="3200400" y="251460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5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Emerging technologies</a:t>
            </a:r>
          </a:p>
        </p:txBody>
      </p:sp>
      <p:sp>
        <p:nvSpPr>
          <p:cNvPr id="9058" name="Rectangle 241"/>
          <p:cNvSpPr/>
          <p:nvPr/>
        </p:nvSpPr>
        <p:spPr>
          <a:xfrm>
            <a:off x="5440680" y="260604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9" name="Rectangle 242"/>
          <p:cNvSpPr/>
          <p:nvPr/>
        </p:nvSpPr>
        <p:spPr>
          <a:xfrm>
            <a:off x="5440680" y="2606040"/>
            <a:ext cx="79248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0" name="TextBox 243"/>
          <p:cNvSpPr txBox="1"/>
          <p:nvPr/>
        </p:nvSpPr>
        <p:spPr>
          <a:xfrm>
            <a:off x="7909560" y="251460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2/6</a:t>
            </a:r>
          </a:p>
        </p:txBody>
      </p:sp>
      <p:sp>
        <p:nvSpPr>
          <p:cNvPr id="9061" name="TextBox 250"/>
          <p:cNvSpPr txBox="1"/>
          <p:nvPr/>
        </p:nvSpPr>
        <p:spPr>
          <a:xfrm>
            <a:off x="3200400" y="283464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6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Take it easy</a:t>
            </a:r>
          </a:p>
        </p:txBody>
      </p:sp>
      <p:sp>
        <p:nvSpPr>
          <p:cNvPr id="9062" name="Rectangle 251"/>
          <p:cNvSpPr/>
          <p:nvPr/>
        </p:nvSpPr>
        <p:spPr>
          <a:xfrm>
            <a:off x="5440680" y="292608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3" name="Rectangle 252"/>
          <p:cNvSpPr/>
          <p:nvPr/>
        </p:nvSpPr>
        <p:spPr>
          <a:xfrm>
            <a:off x="5440680" y="2926080"/>
            <a:ext cx="158496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4" name="TextBox 253"/>
          <p:cNvSpPr txBox="1"/>
          <p:nvPr/>
        </p:nvSpPr>
        <p:spPr>
          <a:xfrm>
            <a:off x="7909560" y="283464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9065" name="TextBox 38"/>
          <p:cNvSpPr txBox="1"/>
          <p:nvPr/>
        </p:nvSpPr>
        <p:spPr>
          <a:xfrm>
            <a:off x="3200400" y="329184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E08A1E"/>
                </a:solidFill>
                <a:latin typeface="Arial"/>
              </a:rPr>
              <a:t>YOUR NEXT THREE TARGETS</a:t>
            </a:r>
          </a:p>
        </p:txBody>
      </p:sp>
      <p:sp>
        <p:nvSpPr>
          <p:cNvPr id="9066" name="TextBox 260"/>
          <p:cNvSpPr txBox="1"/>
          <p:nvPr/>
        </p:nvSpPr>
        <p:spPr>
          <a:xfrm>
            <a:off x="3200400" y="3538728"/>
            <a:ext cx="5669280" cy="426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1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Nuria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is worrying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about her results at the moment, though she is normally calm.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1, now</a:t>
            </a:r>
          </a:p>
        </p:txBody>
      </p:sp>
      <p:sp>
        <p:nvSpPr>
          <p:cNvPr id="9067" name="TextBox 261"/>
          <p:cNvSpPr txBox="1"/>
          <p:nvPr/>
        </p:nvSpPr>
        <p:spPr>
          <a:xfrm>
            <a:off x="3200400" y="3965448"/>
            <a:ext cx="5669280" cy="426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8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When I was small, we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would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spend every March at my grandmother's house for Fallas.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2, Oct to Dec</a:t>
            </a:r>
          </a:p>
        </p:txBody>
      </p:sp>
      <p:sp>
        <p:nvSpPr>
          <p:cNvPr id="9068" name="TextBox 262"/>
          <p:cNvSpPr txBox="1"/>
          <p:nvPr/>
        </p:nvSpPr>
        <p:spPr>
          <a:xfrm>
            <a:off x="3200400" y="4392168"/>
            <a:ext cx="5669280" cy="426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10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I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am used to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the noise now, so I sleep straight through it.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2, Oct to Dec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Student C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PERSONAL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651760" cy="352044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9" name="TextBox 8"/>
          <p:cNvSpPr txBox="1"/>
          <p:nvPr/>
        </p:nvSpPr>
        <p:spPr>
          <a:xfrm>
            <a:off x="457200" y="13258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THIS IS</a:t>
            </a:r>
          </a:p>
        </p:txBody>
      </p:sp>
      <p:sp>
        <p:nvSpPr>
          <p:cNvPr id="9070" name="TextBox 9"/>
          <p:cNvSpPr txBox="1"/>
          <p:nvPr/>
        </p:nvSpPr>
        <p:spPr>
          <a:xfrm>
            <a:off x="457200" y="1600200"/>
            <a:ext cx="2377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Georgia"/>
              </a:rPr>
              <a:t>Víctor</a:t>
            </a:r>
          </a:p>
        </p:txBody>
      </p:sp>
      <p:sp>
        <p:nvSpPr>
          <p:cNvPr id="9071" name="TextBox 10"/>
          <p:cNvSpPr txBox="1"/>
          <p:nvPr/>
        </p:nvSpPr>
        <p:spPr>
          <a:xfrm>
            <a:off x="457200" y="2331720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4000" b="1" i="0">
                <a:solidFill>
                  <a:srgbClr val="6BAE2E"/>
                </a:solidFill>
                <a:latin typeface="Arial"/>
              </a:rPr>
              <a:t>24/36</a:t>
            </a:r>
          </a:p>
        </p:txBody>
      </p:sp>
      <p:sp>
        <p:nvSpPr>
          <p:cNvPr id="9072" name="TextBox 11"/>
          <p:cNvSpPr txBox="1"/>
          <p:nvPr/>
        </p:nvSpPr>
        <p:spPr>
          <a:xfrm>
            <a:off x="457200" y="315468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STRONGEST PART</a:t>
            </a:r>
          </a:p>
        </p:txBody>
      </p:sp>
      <p:sp>
        <p:nvSpPr>
          <p:cNvPr id="9073" name="TextBox 12"/>
          <p:cNvSpPr txBox="1"/>
          <p:nvPr/>
        </p:nvSpPr>
        <p:spPr>
          <a:xfrm>
            <a:off x="457200" y="342900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Unit 5: Emerging technologies</a:t>
            </a:r>
          </a:p>
        </p:txBody>
      </p:sp>
      <p:sp>
        <p:nvSpPr>
          <p:cNvPr id="9074" name="Rounded Rectangle 13">
            <a:hlinkClick action="ppaction://hlinksldjump" r:id="rId3"/>
          </p:cNvPr>
          <p:cNvSpPr/>
          <p:nvPr/>
        </p:nvSpPr>
        <p:spPr>
          <a:xfrm>
            <a:off x="502920" y="4114800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3F6E17"/>
                </a:solidFill>
                <a:latin typeface="Arial"/>
              </a:rPr>
              <a:t>Back to all cards</a:t>
            </a:r>
          </a:p>
        </p:txBody>
      </p:sp>
      <p:sp>
        <p:nvSpPr>
          <p:cNvPr id="9075" name="TextBox 200"/>
          <p:cNvSpPr txBox="1"/>
          <p:nvPr/>
        </p:nvSpPr>
        <p:spPr>
          <a:xfrm>
            <a:off x="3200400" y="123444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1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Jump for joy</a:t>
            </a:r>
          </a:p>
        </p:txBody>
      </p:sp>
      <p:sp>
        <p:nvSpPr>
          <p:cNvPr id="9076" name="Rectangle 201"/>
          <p:cNvSpPr/>
          <p:nvPr/>
        </p:nvSpPr>
        <p:spPr>
          <a:xfrm>
            <a:off x="5440680" y="132588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7" name="Rectangle 202"/>
          <p:cNvSpPr/>
          <p:nvPr/>
        </p:nvSpPr>
        <p:spPr>
          <a:xfrm>
            <a:off x="5440680" y="1325880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8" name="TextBox 203"/>
          <p:cNvSpPr txBox="1"/>
          <p:nvPr/>
        </p:nvSpPr>
        <p:spPr>
          <a:xfrm>
            <a:off x="7909560" y="123444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9079" name="TextBox 210"/>
          <p:cNvSpPr txBox="1"/>
          <p:nvPr/>
        </p:nvSpPr>
        <p:spPr>
          <a:xfrm>
            <a:off x="3200400" y="155448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2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Global culture?</a:t>
            </a:r>
          </a:p>
        </p:txBody>
      </p:sp>
      <p:sp>
        <p:nvSpPr>
          <p:cNvPr id="9080" name="Rectangle 211"/>
          <p:cNvSpPr/>
          <p:nvPr/>
        </p:nvSpPr>
        <p:spPr>
          <a:xfrm>
            <a:off x="5440680" y="164592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1" name="Rectangle 212"/>
          <p:cNvSpPr/>
          <p:nvPr/>
        </p:nvSpPr>
        <p:spPr>
          <a:xfrm>
            <a:off x="5440680" y="1645920"/>
            <a:ext cx="118872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2" name="TextBox 213"/>
          <p:cNvSpPr txBox="1"/>
          <p:nvPr/>
        </p:nvSpPr>
        <p:spPr>
          <a:xfrm>
            <a:off x="7909560" y="155448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9083" name="TextBox 220"/>
          <p:cNvSpPr txBox="1"/>
          <p:nvPr/>
        </p:nvSpPr>
        <p:spPr>
          <a:xfrm>
            <a:off x="3200400" y="187452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3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Role models</a:t>
            </a:r>
          </a:p>
        </p:txBody>
      </p:sp>
      <p:sp>
        <p:nvSpPr>
          <p:cNvPr id="9084" name="Rectangle 221"/>
          <p:cNvSpPr/>
          <p:nvPr/>
        </p:nvSpPr>
        <p:spPr>
          <a:xfrm>
            <a:off x="5440680" y="196596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5" name="Rectangle 222"/>
          <p:cNvSpPr/>
          <p:nvPr/>
        </p:nvSpPr>
        <p:spPr>
          <a:xfrm>
            <a:off x="5440680" y="1965960"/>
            <a:ext cx="158496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6" name="TextBox 223"/>
          <p:cNvSpPr txBox="1"/>
          <p:nvPr/>
        </p:nvSpPr>
        <p:spPr>
          <a:xfrm>
            <a:off x="7909560" y="187452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9087" name="TextBox 230"/>
          <p:cNvSpPr txBox="1"/>
          <p:nvPr/>
        </p:nvSpPr>
        <p:spPr>
          <a:xfrm>
            <a:off x="3200400" y="219456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4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City living</a:t>
            </a:r>
          </a:p>
        </p:txBody>
      </p:sp>
      <p:sp>
        <p:nvSpPr>
          <p:cNvPr id="9088" name="Rectangle 231"/>
          <p:cNvSpPr/>
          <p:nvPr/>
        </p:nvSpPr>
        <p:spPr>
          <a:xfrm>
            <a:off x="5440680" y="228600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9" name="Rectangle 232"/>
          <p:cNvSpPr/>
          <p:nvPr/>
        </p:nvSpPr>
        <p:spPr>
          <a:xfrm>
            <a:off x="5440680" y="2286000"/>
            <a:ext cx="118872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0" name="TextBox 233"/>
          <p:cNvSpPr txBox="1"/>
          <p:nvPr/>
        </p:nvSpPr>
        <p:spPr>
          <a:xfrm>
            <a:off x="7909560" y="219456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9091" name="TextBox 240"/>
          <p:cNvSpPr txBox="1"/>
          <p:nvPr/>
        </p:nvSpPr>
        <p:spPr>
          <a:xfrm>
            <a:off x="3200400" y="251460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5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Emerging technologies</a:t>
            </a:r>
          </a:p>
        </p:txBody>
      </p:sp>
      <p:sp>
        <p:nvSpPr>
          <p:cNvPr id="9092" name="Rectangle 241"/>
          <p:cNvSpPr/>
          <p:nvPr/>
        </p:nvSpPr>
        <p:spPr>
          <a:xfrm>
            <a:off x="5440680" y="260604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3" name="Rectangle 242"/>
          <p:cNvSpPr/>
          <p:nvPr/>
        </p:nvSpPr>
        <p:spPr>
          <a:xfrm>
            <a:off x="5440680" y="2606040"/>
            <a:ext cx="198120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4" name="TextBox 243"/>
          <p:cNvSpPr txBox="1"/>
          <p:nvPr/>
        </p:nvSpPr>
        <p:spPr>
          <a:xfrm>
            <a:off x="7909560" y="251460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9095" name="TextBox 250"/>
          <p:cNvSpPr txBox="1"/>
          <p:nvPr/>
        </p:nvSpPr>
        <p:spPr>
          <a:xfrm>
            <a:off x="3200400" y="283464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6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Take it easy</a:t>
            </a:r>
          </a:p>
        </p:txBody>
      </p:sp>
      <p:sp>
        <p:nvSpPr>
          <p:cNvPr id="9096" name="Rectangle 251"/>
          <p:cNvSpPr/>
          <p:nvPr/>
        </p:nvSpPr>
        <p:spPr>
          <a:xfrm>
            <a:off x="5440680" y="2926080"/>
            <a:ext cx="2377440" cy="164592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7" name="Rectangle 252"/>
          <p:cNvSpPr/>
          <p:nvPr/>
        </p:nvSpPr>
        <p:spPr>
          <a:xfrm>
            <a:off x="5440680" y="2926080"/>
            <a:ext cx="1584960" cy="164592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8" name="TextBox 253"/>
          <p:cNvSpPr txBox="1"/>
          <p:nvPr/>
        </p:nvSpPr>
        <p:spPr>
          <a:xfrm>
            <a:off x="7909560" y="2834640"/>
            <a:ext cx="9144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9099" name="TextBox 38"/>
          <p:cNvSpPr txBox="1"/>
          <p:nvPr/>
        </p:nvSpPr>
        <p:spPr>
          <a:xfrm>
            <a:off x="3200400" y="329184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E08A1E"/>
                </a:solidFill>
                <a:latin typeface="Arial"/>
              </a:rPr>
              <a:t>YOUR NEXT THREE TARGETS</a:t>
            </a:r>
          </a:p>
        </p:txBody>
      </p:sp>
      <p:sp>
        <p:nvSpPr>
          <p:cNvPr id="9100" name="TextBox 260"/>
          <p:cNvSpPr txBox="1"/>
          <p:nvPr/>
        </p:nvSpPr>
        <p:spPr>
          <a:xfrm>
            <a:off x="3200400" y="3538728"/>
            <a:ext cx="5669280" cy="426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1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Nuria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is worrying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about her results at the moment, though she is normally calm.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1, now</a:t>
            </a:r>
          </a:p>
        </p:txBody>
      </p:sp>
      <p:sp>
        <p:nvSpPr>
          <p:cNvPr id="9101" name="TextBox 261"/>
          <p:cNvSpPr txBox="1"/>
          <p:nvPr/>
        </p:nvSpPr>
        <p:spPr>
          <a:xfrm>
            <a:off x="3200400" y="3965448"/>
            <a:ext cx="5669280" cy="426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8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When I was small, we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would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spend every March at my grandmother's house for Fallas.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2, Oct to Dec</a:t>
            </a:r>
          </a:p>
        </p:txBody>
      </p:sp>
      <p:sp>
        <p:nvSpPr>
          <p:cNvPr id="9102" name="TextBox 262"/>
          <p:cNvSpPr txBox="1"/>
          <p:nvPr/>
        </p:nvSpPr>
        <p:spPr>
          <a:xfrm>
            <a:off x="3200400" y="4392168"/>
            <a:ext cx="5669280" cy="426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10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I </a:t>
            </a:r>
            <a:r>
              <a:rPr sz="1100" b="1" i="0">
                <a:solidFill>
                  <a:srgbClr val="3F6E17"/>
                </a:solidFill>
                <a:latin typeface="Arial"/>
              </a:rPr>
              <a:t>am used to</a:t>
            </a:r>
            <a:r>
              <a:rPr sz="1100" b="0" i="0">
                <a:solidFill>
                  <a:srgbClr val="222222"/>
                </a:solidFill>
                <a:latin typeface="Arial"/>
              </a:rPr>
              <a:t> the noise now, so I sleep straight through it.</a:t>
            </a:r>
            <a:r>
              <a:rPr sz="1000" b="1" i="0">
                <a:solidFill>
                  <a:srgbClr val="E08A1E"/>
                </a:solidFill>
                <a:latin typeface="Arial"/>
              </a:rPr>
              <a:t>   Unit 2, Oct to Dec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576072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So what happens now?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2732897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31520"/>
            <a:ext cx="2011680" cy="256032"/>
          </a:xfrm>
          <a:prstGeom prst="rect">
            <a:avLst/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73736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FCE I  ·  The Level Ladder, 17 Sep 2026  ·  Somerset Language Centre, Valencia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143000"/>
            <a:ext cx="71323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Georgia"/>
              </a:rPr>
              <a:t>Today,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36192"/>
            <a:ext cx="7132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777777"/>
                </a:solidFill>
                <a:latin typeface="Arial"/>
              </a:rPr>
              <a:t>Present continuous for temporary states. Question 1: nobody got it. That is exactly what we practise today.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31720"/>
            <a:ext cx="71323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Georgia"/>
              </a:rPr>
              <a:t>Every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7132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777777"/>
                </a:solidFill>
                <a:latin typeface="Arial"/>
              </a:rPr>
              <a:t>When we reach a new unit, look back at its six questions. You will see them get easier.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566160"/>
            <a:ext cx="640080" cy="64008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71323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Georgia"/>
              </a:rPr>
              <a:t>June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13632"/>
            <a:ext cx="7132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0">
                <a:solidFill>
                  <a:srgbClr val="777777"/>
                </a:solidFill>
                <a:latin typeface="Arial"/>
              </a:rPr>
              <a:t>We climb the ladder again and see how much higher you 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