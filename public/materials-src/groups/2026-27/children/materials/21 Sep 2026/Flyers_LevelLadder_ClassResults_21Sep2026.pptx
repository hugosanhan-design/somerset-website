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2048256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MONDAY &amp; WEDNESDAY  ·  YOUNG LEARNERS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Level Ladder: your results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488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already know, what you don't know yet, and when we will learn it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10058400" cy="1051560"/>
          </a:xfrm>
          <a:prstGeom prst="roundRect">
            <a:avLst>
              <a:gd name="adj" fmla="val 10435"/>
            </a:avLst>
          </a:prstGeom>
          <a:solidFill>
            <a:srgbClr val="EAF3E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880360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this ladder goes all the way up to what a Spanish 6º de Primaria student is expected to know. Most of it we haven't taught yet — every mistake here is just a map of where we're going.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Level Ladder worked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7160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06240" y="137160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0624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1371600"/>
            <a:ext cx="3200400" cy="1554480"/>
          </a:xfrm>
          <a:prstGeom prst="roundRect">
            <a:avLst>
              <a:gd name="adj" fmla="val 7059"/>
            </a:avLst>
          </a:prstGeom>
          <a:solidFill>
            <a:srgbClr val="EAF3E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real target rung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per rung, one CEFR level each. Rungs 1 to 4 are what this group should already know by now. Rung 5 is the real benchmark — what every 6º de Primaria student in Spain is expected to know. Rung 6 goes further still.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students sat the test on 9 September 2026, at the very start of the year.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class did, rung by rung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CLASS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answers from all 11 of you together (55 per rung).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9659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9659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very basics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0" y="2139696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2139696"/>
            <a:ext cx="3364992" cy="310896"/>
          </a:xfrm>
          <a:prstGeom prst="roundRect">
            <a:avLst>
              <a:gd name="adj" fmla="val 17647"/>
            </a:avLst>
          </a:prstGeom>
          <a:solidFill>
            <a:srgbClr val="6BAE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436608" y="19659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58400" y="207568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E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58400" y="2075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62432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262432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Family, school things, habits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20640" y="2798064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18" name="Shape 15"/>
          <p:cNvSpPr/>
          <p:nvPr/>
        </p:nvSpPr>
        <p:spPr>
          <a:xfrm>
            <a:off x="5120640" y="2798064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6BAE2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436608" y="262432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058400" y="2734056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E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0" y="273405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826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783080" y="32826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sentences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120640" y="3456432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25" name="Shape 22"/>
          <p:cNvSpPr/>
          <p:nvPr/>
        </p:nvSpPr>
        <p:spPr>
          <a:xfrm>
            <a:off x="5120640" y="3456432"/>
            <a:ext cx="2986430" cy="310896"/>
          </a:xfrm>
          <a:prstGeom prst="roundRect">
            <a:avLst>
              <a:gd name="adj" fmla="val 17647"/>
            </a:avLst>
          </a:prstGeom>
          <a:solidFill>
            <a:srgbClr val="6BAE2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436608" y="328269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058400" y="3392424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E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058400" y="33924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94106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4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783080" y="394106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comparing, giving orders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20640" y="411480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32" name="Shape 29"/>
          <p:cNvSpPr/>
          <p:nvPr/>
        </p:nvSpPr>
        <p:spPr>
          <a:xfrm>
            <a:off x="5120640" y="4114800"/>
            <a:ext cx="2313432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436608" y="394106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058400" y="405079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BE9D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058400" y="405079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— see detail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459943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5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783080" y="459943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about the past and the future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120640" y="4773168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39" name="Shape 36"/>
          <p:cNvSpPr/>
          <p:nvPr/>
        </p:nvSpPr>
        <p:spPr>
          <a:xfrm>
            <a:off x="5120640" y="4773168"/>
            <a:ext cx="206105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436608" y="45994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0058400" y="47091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E1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058400" y="47091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YEAR: Nov–Apr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525780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6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783080" y="52578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very top of the ladder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120640" y="5431536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EFEFEF"/>
          </a:solidFill>
          <a:ln/>
        </p:spPr>
      </p:sp>
      <p:sp>
        <p:nvSpPr>
          <p:cNvPr id="46" name="Shape 43"/>
          <p:cNvSpPr/>
          <p:nvPr/>
        </p:nvSpPr>
        <p:spPr>
          <a:xfrm>
            <a:off x="5120640" y="5431536"/>
            <a:ext cx="1892808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9436608" y="52578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0058400" y="536752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FBE9D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10058400" y="536752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 THIS YEAR: Dec &amp; Feb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1: The very basics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should already have this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55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colour is a banana?  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correct sentence.  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to be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 (82%)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One, two, three, FOUR.  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my dog.” (right next to you)  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/ that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 (82%)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017520" y="5020056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plural of “child”?  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plurals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 (36%)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2: Family, school things, habits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55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father's brother is my…  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vocabulary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GOT two brothers and one sister.  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got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 (45%)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GOES to school every day.  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simple -s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 (45%)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is a school object?  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vocabulary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 (91%)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day comes after Monday?  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the week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 (91%)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3: Everyday sentences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A1, roughly 4º level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55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cat under the table.  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/ are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PLAY football on Saturdays?  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simple Qs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 (64%)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 is ON the table.  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prepositions of place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 (82%)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017520" y="4233672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She's very KIND.  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adjective, not adverb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 (36%)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BE9D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on the plan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doesn't LIKE vegetables.  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simple negative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 (73%)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4: Right now, comparing, giving orders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starts here, roughly 5º level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55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017520" y="1874520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Look! The children ARE PLAYING in the park right now.  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continuous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 (27%)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BE9D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on the plan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elephant is BIGGER than a mouse.  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-er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 (55%)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✓ done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grandmother CAN swim very well.  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modal: can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“CLOSE the door, please!”  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 (82%)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covered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17520" y="5020056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doing this afternoon? — I AM DOING my homework.  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continuous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1/11 (9%)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BE9D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on the plan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5: Talking about the past and the future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6º Primaria target (A2.2)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55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017520" y="1874520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 WAS very hot in Valencia.  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simple: was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 (36%)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Dec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year we WENT to Albacete to visit our family.  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simple: went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 (45%)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Dec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we ARE going to visit the City of Arts and Sciences.  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to (future)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 (64%)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Apr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puzzle is MORE DIFFICULT than the last one.  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comparative: more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 (73%)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Nov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17520" y="5020056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year 1800, WERE no cars in Valencia.  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simple: were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 (27%)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Dec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6: The very top of the ladder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OF THE LADDER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in green.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331720" cy="4160520"/>
          </a:xfrm>
          <a:prstGeom prst="roundRect">
            <a:avLst>
              <a:gd name="adj" fmla="val 4706"/>
            </a:avLst>
          </a:prstGeom>
          <a:solidFill>
            <a:srgbClr val="EAF3E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103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AVERAGE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2004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— beyond most 6º classes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SCORE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348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55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017520" y="1874520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127248" y="18745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1874520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been to Peñíscola?  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350008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perfect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18745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0/11 (0%)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41280" y="19110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0" y="1911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Feb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017520" y="2660904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127248" y="266090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2660904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look tired. You SHOULD go to bed early tonight.  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3136392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modal: should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0" y="266090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 (18%)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241280" y="26974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241280" y="26974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Dec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3127248" y="34472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520440" y="3447288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aren't MANY oranges left in the basket.  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520440" y="3922776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quantifier: many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344728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 (100%)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241280" y="3483864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241280" y="34838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Feb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3127248" y="42336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520440" y="4233672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used my phone TO TAKE a photo of the Fallas monument.  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3520440" y="47091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 of purpose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144000" y="423367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 (73%)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0241280" y="4270248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BE9D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241280" y="42702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on the plan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017520" y="5020056"/>
            <a:ext cx="8686800" cy="713232"/>
          </a:xfrm>
          <a:prstGeom prst="roundRect">
            <a:avLst>
              <a:gd name="adj" fmla="val 10256"/>
            </a:avLst>
          </a:prstGeom>
          <a:solidFill>
            <a:srgbClr val="FBE9D2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127248" y="502005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3520440" y="5020056"/>
            <a:ext cx="5623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has LESS homework than me tonight.  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3520440" y="5495544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quantifier: less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5020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 (36%)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0241280" y="5056632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EAF3E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0241280" y="5056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Coming: Feb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ones (almost) nobody got right… yet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TWO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074920" cy="4114800"/>
          </a:xfrm>
          <a:prstGeom prst="roundRect">
            <a:avLst>
              <a:gd name="adj" fmla="val 3111"/>
            </a:avLst>
          </a:prstGeom>
          <a:solidFill>
            <a:srgbClr val="EAF3E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26  ·  PRESENT PERFECT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37744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been to Peñíscola?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404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11 correct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434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learn this properly in February.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1691640"/>
            <a:ext cx="5074920" cy="4114800"/>
          </a:xfrm>
          <a:prstGeom prst="roundRect">
            <a:avLst>
              <a:gd name="adj" fmla="val 3111"/>
            </a:avLst>
          </a:prstGeom>
          <a:solidFill>
            <a:srgbClr val="EAF3E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0" y="1920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  ·  PRESENT CONTINUOUS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37744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doing this afternoon? — I AM DOING my homework.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38404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11 correct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34340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on this year's plan yet — worth a look.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year, month by month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EAF3E1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600200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6BAE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5760" y="16002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HERE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38912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38912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912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Comparatives • family &amp; describing people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56816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EAF3E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29968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029968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029968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food • have to / would like • frequency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547872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F4F4F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621024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621024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but/instead • comparatives with more • used to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138928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F4F4F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12080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12080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+ past simple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29984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F4F4F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03136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803136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03136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Superlatives • favourites &amp; hobbies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321040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F4F4F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394192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394192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block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394192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perfect + quantifiers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912096" y="1965960"/>
            <a:ext cx="1481328" cy="2834640"/>
          </a:xfrm>
          <a:prstGeom prst="roundRect">
            <a:avLst>
              <a:gd name="adj" fmla="val 6173"/>
            </a:avLst>
          </a:prstGeom>
          <a:solidFill>
            <a:srgbClr val="F4F4F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985248" y="2103120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985248" y="242316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block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985248" y="2926080"/>
            <a:ext cx="13350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tense: going to / will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074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and Oct months already taught. Nov–Apr months are planned, not locked — pace can shift. Feb and Apr are extra blocks added because of what this diagnostic found, not standard Our World 4 unit content.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A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happens now?</a:t>
            </a:r>
            <a:endParaRPr lang="en-US" sz="2600" dirty="0"/>
          </a:p>
        </p:txBody>
      </p:sp>
      <p:pic>
        <p:nvPicPr>
          <p:cNvPr id="4" name="Image 0" descr="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306324"/>
            <a:ext cx="2048256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1556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EAF3E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15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6BAE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7373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103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perfect (“have you ever…”) and present continuous (“right now”) are the two everybody missed. Quick, repeated drilling fixes both fast — neither needs a whole new unit.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6BAE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0175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month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3832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reach a unit, we look back at its Level Ladder questions together. Watch them get easier.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6BAE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2976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663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climb the ladder again and compare — same format, same rungs.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Flyers I  ·  The Level Ladder, 9 Sep 2026  ·  Somerset Language Centre, Valencia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2026-09-21T15:44:18Z</dcterms:created>
  <dcterms:modified xsi:type="dcterms:W3CDTF">2026-09-21T15:44:18Z</dcterms:modified>
</cp:coreProperties>
</file>