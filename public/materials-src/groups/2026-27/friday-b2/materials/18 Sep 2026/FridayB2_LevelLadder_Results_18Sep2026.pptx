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328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AE2E"/>
                </a:solidFill>
                <a:latin typeface="Georgia"/>
              </a:rPr>
              <a:t>SOMERSET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2011680" cy="36576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AE2E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AE2E"/>
                </a:solidFill>
                <a:latin typeface="Arial"/>
              </a:rPr>
              <a:t>FRIDAY B2  ·  15:45  ·  NEW CLOSE-UP B2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22222"/>
                </a:solidFill>
                <a:latin typeface="Georgia"/>
              </a:rPr>
              <a:t>The Level Ladder: your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777777"/>
                </a:solidFill>
                <a:latin typeface="Georgia"/>
              </a:rPr>
              <a:t>What you already know, what you don't know yet, and when we will learn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61880"/>
            <a:ext cx="7498079" cy="5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6E17"/>
                </a:solidFill>
                <a:latin typeface="Arial"/>
              </a:rPr>
              <a:t>Remember: </a:t>
            </a:r>
            <a:r>
              <a:rPr sz="1500" b="0">
                <a:solidFill>
                  <a:srgbClr val="222222"/>
                </a:solidFill>
                <a:latin typeface="Arial"/>
              </a:rPr>
              <a:t>this was not an exam. It covered the whole year, so most of it we have not taught yet. Getting a question wrong today just tells me where to spend our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7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How the Level Ladder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00000"/>
            <a:ext cx="2350000" cy="24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80" y="1000000"/>
            <a:ext cx="211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3F6E17"/>
                </a:solidFill>
                <a:latin typeface="Georgia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80" y="1750000"/>
            <a:ext cx="211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80" y="2150000"/>
            <a:ext cx="211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Six in each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0080" y="900000"/>
            <a:ext cx="2350000" cy="24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0080" y="1000000"/>
            <a:ext cx="211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3F6E17"/>
                </a:solidFill>
                <a:latin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0080" y="1750000"/>
            <a:ext cx="211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080" y="2150000"/>
            <a:ext cx="211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One part for each unit we will study this year.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40080" y="900000"/>
            <a:ext cx="2350000" cy="24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80" y="1000000"/>
            <a:ext cx="211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3F6E17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80" y="1750000"/>
            <a:ext cx="211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unit so far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80" y="2150000"/>
            <a:ext cx="211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We started Unit 1 today. Units 2 to 6 are still to 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How the class did, unit by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0000" y="330000"/>
            <a:ext cx="17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0000" y="39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F6E17"/>
                </a:solidFill>
                <a:latin typeface="Arial"/>
              </a:rPr>
              <a:t>THE WHOLE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20000"/>
            <a:ext cx="7772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Correct answers from all six of you together (36 per unit). Unit 1 is where we are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0000"/>
            <a:ext cx="19000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Unit 1  Jump for joy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0000" y="1220000"/>
            <a:ext cx="4300000" cy="2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0000" y="1220000"/>
            <a:ext cx="3225000" cy="2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0000" y="1180000"/>
            <a:ext cx="5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6E17"/>
                </a:solidFill>
                <a:latin typeface="Arial"/>
              </a:rPr>
              <a:t>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0" y="1200000"/>
            <a:ext cx="620000" cy="270000"/>
          </a:xfrm>
          <a:prstGeom prst="roundRect">
            <a:avLst>
              <a:gd name="adj" fmla="val 50000"/>
            </a:avLst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0000" y="1255000"/>
            <a:ext cx="6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90000"/>
            <a:ext cx="19000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Unit 2  Global culture?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0000" y="1830000"/>
            <a:ext cx="4300000" cy="2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0000" y="1830000"/>
            <a:ext cx="2021000" cy="2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0000" y="1790000"/>
            <a:ext cx="5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6E17"/>
                </a:solidFill>
                <a:latin typeface="Arial"/>
              </a:rPr>
              <a:t>47%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1850000"/>
            <a:ext cx="6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Nov to 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400000"/>
            <a:ext cx="19000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Unit 3  Role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50000" y="2440000"/>
            <a:ext cx="4300000" cy="2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0000" y="2440000"/>
            <a:ext cx="2279000" cy="2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0000" y="2400000"/>
            <a:ext cx="5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6E17"/>
                </a:solidFill>
                <a:latin typeface="Arial"/>
              </a:rPr>
              <a:t>53%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2460000"/>
            <a:ext cx="6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Jan to Feb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010000"/>
            <a:ext cx="19000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Unit 4  City living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0000" y="3050000"/>
            <a:ext cx="4300000" cy="2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0000" y="3050000"/>
            <a:ext cx="2494000" cy="2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0000" y="3010000"/>
            <a:ext cx="5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6E17"/>
                </a:solidFill>
                <a:latin typeface="Arial"/>
              </a:rPr>
              <a:t>58%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0000" y="3070000"/>
            <a:ext cx="6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Feb to 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20000"/>
            <a:ext cx="19000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Unit 5 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0000" y="3660000"/>
            <a:ext cx="4300000" cy="2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50000" y="3660000"/>
            <a:ext cx="2881000" cy="2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50000" y="3620000"/>
            <a:ext cx="5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6E17"/>
                </a:solidFill>
                <a:latin typeface="Arial"/>
              </a:rPr>
              <a:t>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0000" y="3680000"/>
            <a:ext cx="6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Apr to May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230000"/>
            <a:ext cx="1900000" cy="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Unit 6  Take it easy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0000" y="4270000"/>
            <a:ext cx="4300000" cy="2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000" y="4270000"/>
            <a:ext cx="2494000" cy="2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0000" y="4230000"/>
            <a:ext cx="5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6E17"/>
                </a:solidFill>
                <a:latin typeface="Arial"/>
              </a:rPr>
              <a:t>58%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0000" y="4290000"/>
            <a:ext cx="6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  <a:latin typeface="Arial"/>
              </a:rPr>
              <a:t>May to Jun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Unit 1: Jump for joy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000" y="330000"/>
            <a:ext cx="15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00" y="390000"/>
            <a:ext cx="15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PART 1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0000"/>
            <a:ext cx="7863840" cy="1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0000"/>
            <a:ext cx="1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000"/>
            <a:ext cx="16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Now,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76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60000"/>
            <a:ext cx="3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present simple/continuous + stative verbs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76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960000"/>
            <a:ext cx="1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27 /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220000"/>
            <a:ext cx="4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122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The dots show all 6 of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44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80" y="148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  </a:t>
            </a:r>
            <a:r>
              <a:rPr sz="1100" b="0">
                <a:solidFill>
                  <a:srgbClr val="222222"/>
                </a:solidFill>
                <a:latin typeface="Arial"/>
              </a:rPr>
              <a:t>Nuria is worrying about her results at the moment, though she is normally calm.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80" y="174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present continuous: temporary</a:t>
            </a:r>
          </a:p>
        </p:txBody>
      </p:sp>
      <p:sp>
        <p:nvSpPr>
          <p:cNvPr id="20" name="Oval 19"/>
          <p:cNvSpPr/>
          <p:nvPr/>
        </p:nvSpPr>
        <p:spPr>
          <a:xfrm>
            <a:off x="665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0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0000" y="166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03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80" y="207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  </a:t>
            </a:r>
            <a:r>
              <a:rPr sz="1100" b="0">
                <a:solidFill>
                  <a:srgbClr val="222222"/>
                </a:solidFill>
                <a:latin typeface="Arial"/>
              </a:rPr>
              <a:t>Try the horchata in Alboraya. It tastes nothing like the supermarket version.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80" y="233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stative verb, not continuous</a:t>
            </a:r>
          </a:p>
        </p:txBody>
      </p:sp>
      <p:sp>
        <p:nvSpPr>
          <p:cNvPr id="30" name="Oval 29"/>
          <p:cNvSpPr/>
          <p:nvPr/>
        </p:nvSpPr>
        <p:spPr>
          <a:xfrm>
            <a:off x="665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9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3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0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0000" y="225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62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80" y="266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  </a:t>
            </a:r>
            <a:r>
              <a:rPr sz="1100" b="0">
                <a:solidFill>
                  <a:srgbClr val="222222"/>
                </a:solidFill>
                <a:latin typeface="Arial"/>
              </a:rPr>
              <a:t>Actually, I think you have a point.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080" y="292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think as opinion, stative</a:t>
            </a:r>
          </a:p>
        </p:txBody>
      </p:sp>
      <p:sp>
        <p:nvSpPr>
          <p:cNvPr id="40" name="Oval 39"/>
          <p:cNvSpPr/>
          <p:nvPr/>
        </p:nvSpPr>
        <p:spPr>
          <a:xfrm>
            <a:off x="665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2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9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6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3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0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0000" y="284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321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0080" y="325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4  </a:t>
            </a:r>
            <a:r>
              <a:rPr sz="1100" b="0">
                <a:solidFill>
                  <a:srgbClr val="222222"/>
                </a:solidFill>
                <a:latin typeface="Arial"/>
              </a:rPr>
              <a:t>Flats in Ruzafa are getting more expensive every single year.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080" y="351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continuous: changing situation</a:t>
            </a:r>
          </a:p>
        </p:txBody>
      </p:sp>
      <p:sp>
        <p:nvSpPr>
          <p:cNvPr id="50" name="Oval 49"/>
          <p:cNvSpPr/>
          <p:nvPr/>
        </p:nvSpPr>
        <p:spPr>
          <a:xfrm>
            <a:off x="665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2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9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6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3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0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0000" y="343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4 of 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80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080" y="384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5  </a:t>
            </a:r>
            <a:r>
              <a:rPr sz="1100" b="0">
                <a:solidFill>
                  <a:srgbClr val="222222"/>
                </a:solidFill>
                <a:latin typeface="Arial"/>
              </a:rPr>
              <a:t>Teresa went bright red when she forgot her lines on stage. She felt embarrassed.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0080" y="410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emotions, -ed not -ing</a:t>
            </a:r>
          </a:p>
        </p:txBody>
      </p:sp>
      <p:sp>
        <p:nvSpPr>
          <p:cNvPr id="60" name="Oval 59"/>
          <p:cNvSpPr/>
          <p:nvPr/>
        </p:nvSpPr>
        <p:spPr>
          <a:xfrm>
            <a:off x="665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2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9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6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33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0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0000" y="402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39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0080" y="443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6  </a:t>
            </a:r>
            <a:r>
              <a:rPr sz="1100" b="0">
                <a:solidFill>
                  <a:srgbClr val="222222"/>
                </a:solidFill>
                <a:latin typeface="Arial"/>
              </a:rPr>
              <a:t>Claudia never changes her mind, however good your argument is. She is very stubborn.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0080" y="469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personality adjectives</a:t>
            </a:r>
          </a:p>
        </p:txBody>
      </p:sp>
      <p:sp>
        <p:nvSpPr>
          <p:cNvPr id="70" name="Oval 69"/>
          <p:cNvSpPr/>
          <p:nvPr/>
        </p:nvSpPr>
        <p:spPr>
          <a:xfrm>
            <a:off x="665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2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9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6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33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0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50000" y="461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Unit 2: Global culture?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000" y="330000"/>
            <a:ext cx="15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00" y="390000"/>
            <a:ext cx="15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PART 2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0000"/>
            <a:ext cx="7863840" cy="1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0000"/>
            <a:ext cx="1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000"/>
            <a:ext cx="16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Nov to Dec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76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60000"/>
            <a:ext cx="3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past simple/continuous; used to / would; be/get used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76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960000"/>
            <a:ext cx="1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17 /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220000"/>
            <a:ext cx="4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122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The dots show all 6 of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44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80" y="148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7  </a:t>
            </a:r>
            <a:r>
              <a:rPr sz="1100" b="0">
                <a:solidFill>
                  <a:srgbClr val="222222"/>
                </a:solidFill>
                <a:latin typeface="Arial"/>
              </a:rPr>
              <a:t>While the parade was passing through the Plaza del Ayuntamiento, it started to rain.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80" y="174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past continuous: interrupted</a:t>
            </a:r>
          </a:p>
        </p:txBody>
      </p:sp>
      <p:sp>
        <p:nvSpPr>
          <p:cNvPr id="20" name="Oval 19"/>
          <p:cNvSpPr/>
          <p:nvPr/>
        </p:nvSpPr>
        <p:spPr>
          <a:xfrm>
            <a:off x="665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0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0000" y="166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4 of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03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80" y="207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8  </a:t>
            </a:r>
            <a:r>
              <a:rPr sz="1100" b="0">
                <a:solidFill>
                  <a:srgbClr val="222222"/>
                </a:solidFill>
                <a:latin typeface="Arial"/>
              </a:rPr>
              <a:t>When I was small, we would spend every March at my grandmother's house for Fallas.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80" y="233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would: repeated past action</a:t>
            </a:r>
          </a:p>
        </p:txBody>
      </p:sp>
      <p:sp>
        <p:nvSpPr>
          <p:cNvPr id="30" name="Oval 29"/>
          <p:cNvSpPr/>
          <p:nvPr/>
        </p:nvSpPr>
        <p:spPr>
          <a:xfrm>
            <a:off x="665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9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3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0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0000" y="225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62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80" y="266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9  </a:t>
            </a:r>
            <a:r>
              <a:rPr sz="1100" b="0">
                <a:solidFill>
                  <a:srgbClr val="222222"/>
                </a:solidFill>
                <a:latin typeface="Arial"/>
              </a:rPr>
              <a:t>She used to hate the mascletà, but now she never misses 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080" y="292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used to with a stative verb</a:t>
            </a:r>
          </a:p>
        </p:txBody>
      </p:sp>
      <p:sp>
        <p:nvSpPr>
          <p:cNvPr id="40" name="Oval 39"/>
          <p:cNvSpPr/>
          <p:nvPr/>
        </p:nvSpPr>
        <p:spPr>
          <a:xfrm>
            <a:off x="665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2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9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6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3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0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0000" y="284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4 of 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321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0080" y="325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10  </a:t>
            </a:r>
            <a:r>
              <a:rPr sz="1100" b="0">
                <a:solidFill>
                  <a:srgbClr val="222222"/>
                </a:solidFill>
                <a:latin typeface="Arial"/>
              </a:rPr>
              <a:t>I am used to the noise now, so I sleep straight through it.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080" y="351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be used to + noun</a:t>
            </a:r>
          </a:p>
        </p:txBody>
      </p:sp>
      <p:sp>
        <p:nvSpPr>
          <p:cNvPr id="50" name="Oval 49"/>
          <p:cNvSpPr/>
          <p:nvPr/>
        </p:nvSpPr>
        <p:spPr>
          <a:xfrm>
            <a:off x="665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2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9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6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3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0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0000" y="343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80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080" y="384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11  </a:t>
            </a:r>
            <a:r>
              <a:rPr sz="1100" b="0">
                <a:solidFill>
                  <a:srgbClr val="222222"/>
                </a:solidFill>
                <a:latin typeface="Arial"/>
              </a:rPr>
              <a:t>The ninots are burnt on the final night. It is a ritual that goes back centuries.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0080" y="410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traditions</a:t>
            </a:r>
          </a:p>
        </p:txBody>
      </p:sp>
      <p:sp>
        <p:nvSpPr>
          <p:cNvPr id="60" name="Oval 59"/>
          <p:cNvSpPr/>
          <p:nvPr/>
        </p:nvSpPr>
        <p:spPr>
          <a:xfrm>
            <a:off x="665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2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9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6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33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0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0000" y="402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1 of 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50000" y="4200000"/>
            <a:ext cx="98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C03A2E"/>
                </a:solidFill>
                <a:latin typeface="Arial"/>
              </a:rPr>
              <a:t>not yet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439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0080" y="443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12  </a:t>
            </a:r>
            <a:r>
              <a:rPr sz="1100" b="0">
                <a:solidFill>
                  <a:srgbClr val="222222"/>
                </a:solidFill>
                <a:latin typeface="Arial"/>
              </a:rPr>
              <a:t>Thousands of people line the streets to watch the parade go past.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0080" y="469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festivals</a:t>
            </a:r>
          </a:p>
        </p:txBody>
      </p:sp>
      <p:sp>
        <p:nvSpPr>
          <p:cNvPr id="71" name="Oval 70"/>
          <p:cNvSpPr/>
          <p:nvPr/>
        </p:nvSpPr>
        <p:spPr>
          <a:xfrm>
            <a:off x="665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82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99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6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3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50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0000" y="461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Unit 3: Role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000" y="330000"/>
            <a:ext cx="15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00" y="390000"/>
            <a:ext cx="15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PART 3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0000"/>
            <a:ext cx="7863840" cy="1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0000"/>
            <a:ext cx="1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000"/>
            <a:ext cx="16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Jan to Feb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76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60000"/>
            <a:ext cx="3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past perfect simple &amp; continuous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76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960000"/>
            <a:ext cx="1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19 /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220000"/>
            <a:ext cx="4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122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The dots show all 6 of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44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80" y="148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13  </a:t>
            </a:r>
            <a:r>
              <a:rPr sz="1100" b="0">
                <a:solidFill>
                  <a:srgbClr val="222222"/>
                </a:solidFill>
                <a:latin typeface="Arial"/>
              </a:rPr>
              <a:t>By the time we got to Mestalla, the match had already started.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80" y="174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past perfect: earlier past</a:t>
            </a:r>
          </a:p>
        </p:txBody>
      </p:sp>
      <p:sp>
        <p:nvSpPr>
          <p:cNvPr id="20" name="Oval 19"/>
          <p:cNvSpPr/>
          <p:nvPr/>
        </p:nvSpPr>
        <p:spPr>
          <a:xfrm>
            <a:off x="665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0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0000" y="166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03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80" y="207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14  </a:t>
            </a:r>
            <a:r>
              <a:rPr sz="1100" b="0">
                <a:solidFill>
                  <a:srgbClr val="222222"/>
                </a:solidFill>
                <a:latin typeface="Arial"/>
              </a:rPr>
              <a:t>She had been running for over five hours when she finally crossed the finish 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80" y="233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past perfect continuous: duration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65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9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3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0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0000" y="225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62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80" y="266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15  </a:t>
            </a:r>
            <a:r>
              <a:rPr sz="1100" b="0">
                <a:solidFill>
                  <a:srgbClr val="222222"/>
                </a:solidFill>
                <a:latin typeface="Arial"/>
              </a:rPr>
              <a:t>I didn't recognise Beatriz at first because she had cut her hair.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080" y="292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past perfect simple: result</a:t>
            </a:r>
          </a:p>
        </p:txBody>
      </p:sp>
      <p:sp>
        <p:nvSpPr>
          <p:cNvPr id="40" name="Oval 39"/>
          <p:cNvSpPr/>
          <p:nvPr/>
        </p:nvSpPr>
        <p:spPr>
          <a:xfrm>
            <a:off x="665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2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9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6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3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0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0000" y="284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321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0080" y="325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16  </a:t>
            </a:r>
            <a:r>
              <a:rPr sz="1100" b="0">
                <a:solidFill>
                  <a:srgbClr val="222222"/>
                </a:solidFill>
                <a:latin typeface="Arial"/>
              </a:rPr>
              <a:t>Before he won his first medal, he had lost three finals.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080" y="351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past perfect before a past point</a:t>
            </a:r>
          </a:p>
        </p:txBody>
      </p:sp>
      <p:sp>
        <p:nvSpPr>
          <p:cNvPr id="50" name="Oval 49"/>
          <p:cNvSpPr/>
          <p:nvPr/>
        </p:nvSpPr>
        <p:spPr>
          <a:xfrm>
            <a:off x="665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2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9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6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3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0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0000" y="343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80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080" y="384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17  </a:t>
            </a:r>
            <a:r>
              <a:rPr sz="1100" b="0">
                <a:solidFill>
                  <a:srgbClr val="222222"/>
                </a:solidFill>
                <a:latin typeface="Arial"/>
              </a:rPr>
              <a:t>Her determination to keep training after the injury is what impressed the selectors.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0080" y="410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success nouns</a:t>
            </a:r>
          </a:p>
        </p:txBody>
      </p:sp>
      <p:sp>
        <p:nvSpPr>
          <p:cNvPr id="60" name="Oval 59"/>
          <p:cNvSpPr/>
          <p:nvPr/>
        </p:nvSpPr>
        <p:spPr>
          <a:xfrm>
            <a:off x="665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2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9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6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33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0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0000" y="402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39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0080" y="443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18  </a:t>
            </a:r>
            <a:r>
              <a:rPr sz="1100" b="0">
                <a:solidFill>
                  <a:srgbClr val="222222"/>
                </a:solidFill>
                <a:latin typeface="Arial"/>
              </a:rPr>
              <a:t>One good teacher can inspire a whole generation of students.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0080" y="469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fame and influence verbs</a:t>
            </a:r>
          </a:p>
        </p:txBody>
      </p:sp>
      <p:sp>
        <p:nvSpPr>
          <p:cNvPr id="70" name="Oval 69"/>
          <p:cNvSpPr/>
          <p:nvPr/>
        </p:nvSpPr>
        <p:spPr>
          <a:xfrm>
            <a:off x="665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2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9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6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33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0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50000" y="461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Unit 4: City living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000" y="330000"/>
            <a:ext cx="15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00" y="390000"/>
            <a:ext cx="15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PART 4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0000"/>
            <a:ext cx="7863840" cy="1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0000"/>
            <a:ext cx="1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000"/>
            <a:ext cx="16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Feb to 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76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60000"/>
            <a:ext cx="3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future forms (will, going to, present continuous for future)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76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960000"/>
            <a:ext cx="1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21 /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220000"/>
            <a:ext cx="4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122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The dots show all 6 of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44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80" y="148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19  </a:t>
            </a:r>
            <a:r>
              <a:rPr sz="1100" b="0">
                <a:solidFill>
                  <a:srgbClr val="222222"/>
                </a:solidFill>
                <a:latin typeface="Arial"/>
              </a:rPr>
              <a:t>This time next year Lucía will be living in Berlin.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80" y="174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future continuous</a:t>
            </a:r>
          </a:p>
        </p:txBody>
      </p:sp>
      <p:sp>
        <p:nvSpPr>
          <p:cNvPr id="20" name="Oval 19"/>
          <p:cNvSpPr/>
          <p:nvPr/>
        </p:nvSpPr>
        <p:spPr>
          <a:xfrm>
            <a:off x="665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0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0000" y="166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4 of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03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80" y="207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20  </a:t>
            </a:r>
            <a:r>
              <a:rPr sz="1100" b="0">
                <a:solidFill>
                  <a:srgbClr val="222222"/>
                </a:solidFill>
                <a:latin typeface="Arial"/>
              </a:rPr>
              <a:t>The new metro line will have been finished long before 2030.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80" y="233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future perfect passive</a:t>
            </a:r>
          </a:p>
        </p:txBody>
      </p:sp>
      <p:sp>
        <p:nvSpPr>
          <p:cNvPr id="30" name="Oval 29"/>
          <p:cNvSpPr/>
          <p:nvPr/>
        </p:nvSpPr>
        <p:spPr>
          <a:xfrm>
            <a:off x="665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9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3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0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0000" y="225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1 of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0000" y="2430000"/>
            <a:ext cx="98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C03A2E"/>
                </a:solidFill>
                <a:latin typeface="Arial"/>
              </a:rPr>
              <a:t>not yet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62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0080" y="266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21  </a:t>
            </a:r>
            <a:r>
              <a:rPr sz="1100" b="0">
                <a:solidFill>
                  <a:srgbClr val="222222"/>
                </a:solidFill>
                <a:latin typeface="Arial"/>
              </a:rPr>
              <a:t>Careful, you are going to drop that box!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080" y="292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going to: present evidence</a:t>
            </a:r>
          </a:p>
        </p:txBody>
      </p:sp>
      <p:sp>
        <p:nvSpPr>
          <p:cNvPr id="41" name="Oval 40"/>
          <p:cNvSpPr/>
          <p:nvPr/>
        </p:nvSpPr>
        <p:spPr>
          <a:xfrm>
            <a:off x="665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2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6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3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0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0000" y="284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21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0080" y="325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22  </a:t>
            </a:r>
            <a:r>
              <a:rPr sz="1100" b="0">
                <a:solidFill>
                  <a:srgbClr val="222222"/>
                </a:solidFill>
                <a:latin typeface="Arial"/>
              </a:rPr>
              <a:t>The train to Madrid leaves every hour, on the hour.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0080" y="351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present simple: timetable</a:t>
            </a:r>
          </a:p>
        </p:txBody>
      </p:sp>
      <p:sp>
        <p:nvSpPr>
          <p:cNvPr id="51" name="Oval 50"/>
          <p:cNvSpPr/>
          <p:nvPr/>
        </p:nvSpPr>
        <p:spPr>
          <a:xfrm>
            <a:off x="665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2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9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6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3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0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0000" y="343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6 of 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380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0080" y="384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23  </a:t>
            </a:r>
            <a:r>
              <a:rPr sz="1100" b="0">
                <a:solidFill>
                  <a:srgbClr val="222222"/>
                </a:solidFill>
                <a:latin typeface="Arial"/>
              </a:rPr>
              <a:t>They live on the outskirts of the city, about twenty minutes out by bus.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80" y="410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cities</a:t>
            </a:r>
          </a:p>
        </p:txBody>
      </p:sp>
      <p:sp>
        <p:nvSpPr>
          <p:cNvPr id="61" name="Oval 60"/>
          <p:cNvSpPr/>
          <p:nvPr/>
        </p:nvSpPr>
        <p:spPr>
          <a:xfrm>
            <a:off x="665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2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9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6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3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50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0000" y="402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439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0080" y="443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24  </a:t>
            </a:r>
            <a:r>
              <a:rPr sz="1100" b="0">
                <a:solidFill>
                  <a:srgbClr val="222222"/>
                </a:solidFill>
                <a:latin typeface="Arial"/>
              </a:rPr>
              <a:t>El Carmen is a bustling district, full of bars and people at all hours.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0080" y="469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describing districts</a:t>
            </a:r>
          </a:p>
        </p:txBody>
      </p:sp>
      <p:sp>
        <p:nvSpPr>
          <p:cNvPr id="71" name="Oval 70"/>
          <p:cNvSpPr/>
          <p:nvPr/>
        </p:nvSpPr>
        <p:spPr>
          <a:xfrm>
            <a:off x="665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82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99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6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3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50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0000" y="461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Unit 5: Emerging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000" y="330000"/>
            <a:ext cx="15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00" y="390000"/>
            <a:ext cx="15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PART 5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0000"/>
            <a:ext cx="7863840" cy="1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0000"/>
            <a:ext cx="1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000"/>
            <a:ext cx="16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Apr to May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76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60000"/>
            <a:ext cx="3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modals (permission, obligation, ability, probability)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76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960000"/>
            <a:ext cx="1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24 /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220000"/>
            <a:ext cx="4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122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The dots show all 6 of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44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80" y="148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25  </a:t>
            </a:r>
            <a:r>
              <a:rPr sz="1100" b="0">
                <a:solidFill>
                  <a:srgbClr val="222222"/>
                </a:solidFill>
                <a:latin typeface="Arial"/>
              </a:rPr>
              <a:t>You mustn't take photos inside the gallery. There are signs on every wall.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80" y="174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prohibition</a:t>
            </a:r>
          </a:p>
        </p:txBody>
      </p:sp>
      <p:sp>
        <p:nvSpPr>
          <p:cNvPr id="20" name="Oval 19"/>
          <p:cNvSpPr/>
          <p:nvPr/>
        </p:nvSpPr>
        <p:spPr>
          <a:xfrm>
            <a:off x="665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0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0000" y="166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6 of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03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80" y="207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26  </a:t>
            </a:r>
            <a:r>
              <a:rPr sz="1100" b="0">
                <a:solidFill>
                  <a:srgbClr val="222222"/>
                </a:solidFill>
                <a:latin typeface="Arial"/>
              </a:rPr>
              <a:t>She isn't answering. She might still be on the metro.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80" y="233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modals of probability</a:t>
            </a:r>
          </a:p>
        </p:txBody>
      </p:sp>
      <p:sp>
        <p:nvSpPr>
          <p:cNvPr id="30" name="Oval 29"/>
          <p:cNvSpPr/>
          <p:nvPr/>
        </p:nvSpPr>
        <p:spPr>
          <a:xfrm>
            <a:off x="665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9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3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0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0000" y="225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62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80" y="266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27  </a:t>
            </a:r>
            <a:r>
              <a:rPr sz="1100" b="0">
                <a:solidFill>
                  <a:srgbClr val="222222"/>
                </a:solidFill>
                <a:latin typeface="Arial"/>
              </a:rPr>
              <a:t>You should have told me the film started at eight. I missed the beginning.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080" y="292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perfect modal: criticism</a:t>
            </a:r>
          </a:p>
        </p:txBody>
      </p:sp>
      <p:sp>
        <p:nvSpPr>
          <p:cNvPr id="40" name="Oval 39"/>
          <p:cNvSpPr/>
          <p:nvPr/>
        </p:nvSpPr>
        <p:spPr>
          <a:xfrm>
            <a:off x="665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2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9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6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3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0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0000" y="284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4 of 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321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0080" y="325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28  </a:t>
            </a:r>
            <a:r>
              <a:rPr sz="1100" b="0">
                <a:solidFill>
                  <a:srgbClr val="222222"/>
                </a:solidFill>
                <a:latin typeface="Arial"/>
              </a:rPr>
              <a:t>That can't be Irene at the door. She is in Alicante today.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080" y="351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deduction: impossibility</a:t>
            </a:r>
          </a:p>
        </p:txBody>
      </p:sp>
      <p:sp>
        <p:nvSpPr>
          <p:cNvPr id="50" name="Oval 49"/>
          <p:cNvSpPr/>
          <p:nvPr/>
        </p:nvSpPr>
        <p:spPr>
          <a:xfrm>
            <a:off x="665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2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9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6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3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0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0000" y="343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80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0080" y="384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29  </a:t>
            </a:r>
            <a:r>
              <a:rPr sz="1100" b="0">
                <a:solidFill>
                  <a:srgbClr val="222222"/>
                </a:solidFill>
                <a:latin typeface="Arial"/>
              </a:rPr>
              <a:t>Make a backup of your files before you update the phone.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0080" y="410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compound noun</a:t>
            </a:r>
          </a:p>
        </p:txBody>
      </p:sp>
      <p:sp>
        <p:nvSpPr>
          <p:cNvPr id="60" name="Oval 59"/>
          <p:cNvSpPr/>
          <p:nvPr/>
        </p:nvSpPr>
        <p:spPr>
          <a:xfrm>
            <a:off x="665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2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9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6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33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0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0000" y="402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39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0080" y="443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30  </a:t>
            </a:r>
            <a:r>
              <a:rPr sz="1100" b="0">
                <a:solidFill>
                  <a:srgbClr val="222222"/>
                </a:solidFill>
                <a:latin typeface="Arial"/>
              </a:rPr>
              <a:t>The email arrived with three attachments.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0080" y="469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technology</a:t>
            </a:r>
          </a:p>
        </p:txBody>
      </p:sp>
      <p:sp>
        <p:nvSpPr>
          <p:cNvPr id="70" name="Oval 69"/>
          <p:cNvSpPr/>
          <p:nvPr/>
        </p:nvSpPr>
        <p:spPr>
          <a:xfrm>
            <a:off x="665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2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9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6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33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0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50000" y="461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2 of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Unit 6: Take it 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7050000" y="330000"/>
            <a:ext cx="15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0000" y="390000"/>
            <a:ext cx="15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PART 6 OF THE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0000"/>
            <a:ext cx="7863840" cy="1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0000"/>
            <a:ext cx="16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WE LEARN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60000"/>
            <a:ext cx="16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May to Jun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76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GRAMMAR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60000"/>
            <a:ext cx="3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-ing form and infinitives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760000"/>
            <a:ext cx="17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CLASS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960000"/>
            <a:ext cx="1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21 /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220000"/>
            <a:ext cx="4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got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122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The dots show all 6 of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44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80" y="148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31  </a:t>
            </a:r>
            <a:r>
              <a:rPr sz="1100" b="0">
                <a:solidFill>
                  <a:srgbClr val="222222"/>
                </a:solidFill>
                <a:latin typeface="Arial"/>
              </a:rPr>
              <a:t>I can't stand waiting in queues.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80" y="174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verb + -ing</a:t>
            </a:r>
          </a:p>
        </p:txBody>
      </p:sp>
      <p:sp>
        <p:nvSpPr>
          <p:cNvPr id="20" name="Oval 19"/>
          <p:cNvSpPr/>
          <p:nvPr/>
        </p:nvSpPr>
        <p:spPr>
          <a:xfrm>
            <a:off x="6650000" y="150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2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6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3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00000" y="150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0000" y="166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03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80" y="207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32  </a:t>
            </a:r>
            <a:r>
              <a:rPr sz="1100" b="0">
                <a:solidFill>
                  <a:srgbClr val="222222"/>
                </a:solidFill>
                <a:latin typeface="Arial"/>
              </a:rPr>
              <a:t>She stopped to tie her shoelace and lost ten seconds.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080" y="233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stop + infinitive of purpose</a:t>
            </a:r>
          </a:p>
        </p:txBody>
      </p:sp>
      <p:sp>
        <p:nvSpPr>
          <p:cNvPr id="30" name="Oval 29"/>
          <p:cNvSpPr/>
          <p:nvPr/>
        </p:nvSpPr>
        <p:spPr>
          <a:xfrm>
            <a:off x="665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2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9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60000" y="209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3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00000" y="209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0000" y="225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5 of 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62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80" y="266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33  </a:t>
            </a:r>
            <a:r>
              <a:rPr sz="1100" b="0">
                <a:solidFill>
                  <a:srgbClr val="222222"/>
                </a:solidFill>
                <a:latin typeface="Arial"/>
              </a:rPr>
              <a:t>We are thinking of taking up padel this autumn.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080" y="292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preposition + -ing</a:t>
            </a:r>
          </a:p>
        </p:txBody>
      </p:sp>
      <p:sp>
        <p:nvSpPr>
          <p:cNvPr id="40" name="Oval 39"/>
          <p:cNvSpPr/>
          <p:nvPr/>
        </p:nvSpPr>
        <p:spPr>
          <a:xfrm>
            <a:off x="665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2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9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6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30000" y="268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00000" y="268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0000" y="284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1 of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0000" y="3020000"/>
            <a:ext cx="98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C03A2E"/>
                </a:solidFill>
                <a:latin typeface="Arial"/>
              </a:rPr>
              <a:t>not yet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21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0080" y="325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34  </a:t>
            </a:r>
            <a:r>
              <a:rPr sz="1100" b="0">
                <a:solidFill>
                  <a:srgbClr val="222222"/>
                </a:solidFill>
                <a:latin typeface="Arial"/>
              </a:rPr>
              <a:t>He managed to get the ball past the keeper.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0080" y="351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verb + infinitive</a:t>
            </a:r>
          </a:p>
        </p:txBody>
      </p:sp>
      <p:sp>
        <p:nvSpPr>
          <p:cNvPr id="51" name="Oval 50"/>
          <p:cNvSpPr/>
          <p:nvPr/>
        </p:nvSpPr>
        <p:spPr>
          <a:xfrm>
            <a:off x="665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2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9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6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30000" y="327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00000" y="327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0000" y="343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4 of 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380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0080" y="384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35  </a:t>
            </a:r>
            <a:r>
              <a:rPr sz="1100" b="0">
                <a:solidFill>
                  <a:srgbClr val="222222"/>
                </a:solidFill>
                <a:latin typeface="Arial"/>
              </a:rPr>
              <a:t>The Valencia marathon course is famously flat, which is why records fall on it.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80" y="410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sports venues</a:t>
            </a:r>
          </a:p>
        </p:txBody>
      </p:sp>
      <p:sp>
        <p:nvSpPr>
          <p:cNvPr id="61" name="Oval 60"/>
          <p:cNvSpPr/>
          <p:nvPr/>
        </p:nvSpPr>
        <p:spPr>
          <a:xfrm>
            <a:off x="665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2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9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160000" y="386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3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500000" y="386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0000" y="402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4390000"/>
            <a:ext cx="5900000" cy="5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0080" y="4430000"/>
            <a:ext cx="5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6E17"/>
                </a:solidFill>
                <a:latin typeface="Arial"/>
              </a:rPr>
              <a:t>36  </a:t>
            </a:r>
            <a:r>
              <a:rPr sz="1100" b="0">
                <a:solidFill>
                  <a:srgbClr val="222222"/>
                </a:solidFill>
                <a:latin typeface="Arial"/>
              </a:rPr>
              <a:t>After thirty laps of the pool she could barely lift her arms.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0080" y="4690000"/>
            <a:ext cx="56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Arial"/>
              </a:rPr>
              <a:t>sports nouns</a:t>
            </a:r>
          </a:p>
        </p:txBody>
      </p:sp>
      <p:sp>
        <p:nvSpPr>
          <p:cNvPr id="71" name="Oval 70"/>
          <p:cNvSpPr/>
          <p:nvPr/>
        </p:nvSpPr>
        <p:spPr>
          <a:xfrm>
            <a:off x="665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82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99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60000" y="4450000"/>
            <a:ext cx="130000" cy="13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3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500000" y="4450000"/>
            <a:ext cx="130000" cy="13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0000" y="4610000"/>
            <a:ext cx="98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A2E"/>
                </a:solidFill>
                <a:latin typeface="Arial"/>
              </a:rPr>
              <a:t>3 of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Almost nobody has this... yet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50000" y="330000"/>
            <a:ext cx="14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000" y="390000"/>
            <a:ext cx="14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THE BIG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900000"/>
            <a:ext cx="7863840" cy="175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80" y="1030000"/>
            <a:ext cx="6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QUESTION 11  ·  TRADITIONS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80" y="1320000"/>
            <a:ext cx="73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Georgia"/>
              </a:rPr>
              <a:t>The ninots are burnt on the final night. It is a ritual that goes back centuries.</a:t>
            </a:r>
          </a:p>
        </p:txBody>
      </p:sp>
      <p:sp>
        <p:nvSpPr>
          <p:cNvPr id="11" name="Oval 10"/>
          <p:cNvSpPr/>
          <p:nvPr/>
        </p:nvSpPr>
        <p:spPr>
          <a:xfrm>
            <a:off x="900080" y="1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080" y="1850000"/>
            <a:ext cx="170000" cy="17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40080" y="1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60080" y="1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80080" y="1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00080" y="1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80" y="2060000"/>
            <a:ext cx="127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  <a:latin typeface="Arial"/>
              </a:rPr>
              <a:t>1 of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000" y="2050000"/>
            <a:ext cx="2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We learn it in Unit 2, Nov to Dec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0000"/>
            <a:ext cx="7863840" cy="175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80" y="3030000"/>
            <a:ext cx="6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F6E17"/>
                </a:solidFill>
                <a:latin typeface="Arial"/>
              </a:rPr>
              <a:t>QUESTION 20  ·  FUTURE PERFECT PASSIVE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80" y="3320000"/>
            <a:ext cx="73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Georgia"/>
              </a:rPr>
              <a:t>The new metro line will have been finished long before 2030.</a:t>
            </a:r>
          </a:p>
        </p:txBody>
      </p:sp>
      <p:sp>
        <p:nvSpPr>
          <p:cNvPr id="22" name="Oval 21"/>
          <p:cNvSpPr/>
          <p:nvPr/>
        </p:nvSpPr>
        <p:spPr>
          <a:xfrm>
            <a:off x="900080" y="3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0080" y="3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40080" y="3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60080" y="3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80080" y="3850000"/>
            <a:ext cx="170000" cy="17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00080" y="3850000"/>
            <a:ext cx="170000" cy="170000"/>
          </a:xfrm>
          <a:prstGeom prst="ellipse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80" y="4060000"/>
            <a:ext cx="127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  <a:latin typeface="Arial"/>
              </a:rPr>
              <a:t>1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0000" y="4050000"/>
            <a:ext cx="2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rial"/>
              </a:rPr>
              <a:t>We learn it in Unit 4, Feb to Mar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Our year, unit by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0000" y="330000"/>
            <a:ext cx="10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0000" y="390000"/>
            <a:ext cx="10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850000"/>
            <a:ext cx="1260000" cy="3350000"/>
          </a:xfrm>
          <a:prstGeom prst="roundRect">
            <a:avLst>
              <a:gd name="adj" fmla="val 6000"/>
            </a:avLst>
          </a:prstGeom>
          <a:solidFill>
            <a:srgbClr val="3F6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80" y="95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80" y="1190000"/>
            <a:ext cx="114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Jump for joy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80" y="1800000"/>
            <a:ext cx="11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present simple/continuous + stative verbs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80" y="382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80" y="4020000"/>
            <a:ext cx="11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YOU ARE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5080" y="850000"/>
            <a:ext cx="1260000" cy="3350000"/>
          </a:xfrm>
          <a:prstGeom prst="roundRect">
            <a:avLst>
              <a:gd name="adj" fmla="val 6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5080" y="95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UNIT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5080" y="1190000"/>
            <a:ext cx="114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Georgia"/>
              </a:rPr>
              <a:t>Global culture?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5080" y="1800000"/>
            <a:ext cx="11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Arial"/>
              </a:rPr>
              <a:t>past simple/continuous; used to / would; be/get used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5080" y="382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Nov to Dec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10080" y="850000"/>
            <a:ext cx="1260000" cy="3350000"/>
          </a:xfrm>
          <a:prstGeom prst="roundRect">
            <a:avLst>
              <a:gd name="adj" fmla="val 6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0080" y="95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UNIT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0080" y="1190000"/>
            <a:ext cx="114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Georgia"/>
              </a:rPr>
              <a:t>Role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0080" y="1800000"/>
            <a:ext cx="11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Arial"/>
              </a:rPr>
              <a:t>past perfect simple &amp; 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0080" y="382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Jan to Feb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5080" y="850000"/>
            <a:ext cx="1260000" cy="3350000"/>
          </a:xfrm>
          <a:prstGeom prst="roundRect">
            <a:avLst>
              <a:gd name="adj" fmla="val 6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5080" y="95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UNIT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5080" y="1190000"/>
            <a:ext cx="114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Georgia"/>
              </a:rPr>
              <a:t>City living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5080" y="1800000"/>
            <a:ext cx="11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Arial"/>
              </a:rPr>
              <a:t>future forms (will, going to, present continuous for future)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5080" y="382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Feb to Mar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80080" y="850000"/>
            <a:ext cx="1260000" cy="3350000"/>
          </a:xfrm>
          <a:prstGeom prst="roundRect">
            <a:avLst>
              <a:gd name="adj" fmla="val 6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40080" y="95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UNIT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0080" y="1190000"/>
            <a:ext cx="114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Georgia"/>
              </a:rPr>
              <a:t>Emerging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0080" y="1800000"/>
            <a:ext cx="11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Arial"/>
              </a:rPr>
              <a:t>modals (permission, obligation, ability, probability)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0080" y="382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Apr to May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65080" y="850000"/>
            <a:ext cx="1260000" cy="3350000"/>
          </a:xfrm>
          <a:prstGeom prst="roundRect">
            <a:avLst>
              <a:gd name="adj" fmla="val 6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5080" y="95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UNIT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5080" y="1190000"/>
            <a:ext cx="114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Georgia"/>
              </a:rPr>
              <a:t>Take it easy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5080" y="1800000"/>
            <a:ext cx="114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  <a:latin typeface="Arial"/>
              </a:rPr>
              <a:t>-ing form and infinitives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5080" y="3820000"/>
            <a:ext cx="11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May to Jun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35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Arial"/>
              </a:rPr>
              <a:t>Months are approximate. In June we do the Level Ladder again and compare.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How each of you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600000" y="330000"/>
            <a:ext cx="20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0000" y="390000"/>
            <a:ext cx="2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F6E17"/>
                </a:solidFill>
                <a:latin typeface="Arial"/>
              </a:rPr>
              <a:t>LETTERS ARE RANDOM, NOT A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850000"/>
            <a:ext cx="1245000" cy="36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80" y="940000"/>
            <a:ext cx="1125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Student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80" y="1150000"/>
            <a:ext cx="1125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25/36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80" y="16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0080" y="16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0080" y="1650000"/>
            <a:ext cx="687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080" y="16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0" y="201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0080" y="203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0080" y="2030000"/>
            <a:ext cx="27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5080" y="200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0" y="239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080" y="241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0080" y="2410000"/>
            <a:ext cx="27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55080" y="238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0" y="277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0080" y="279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0080" y="279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5080" y="276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080" y="315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80" y="317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0080" y="3170000"/>
            <a:ext cx="82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55080" y="314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080" y="35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0080" y="35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0080" y="3550000"/>
            <a:ext cx="82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55080" y="35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10080" y="850000"/>
            <a:ext cx="1245000" cy="36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0080" y="940000"/>
            <a:ext cx="1125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Student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70080" y="1150000"/>
            <a:ext cx="1125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18/36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70080" y="16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0080" y="16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10080" y="165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5080" y="16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70080" y="201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10080" y="203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10080" y="203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25080" y="200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70080" y="239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10080" y="241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10080" y="241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5080" y="238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70080" y="277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10080" y="279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10080" y="279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25080" y="276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70080" y="315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10080" y="317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10080" y="3170000"/>
            <a:ext cx="27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25080" y="314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70080" y="35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10080" y="35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10080" y="355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25080" y="35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80080" y="850000"/>
            <a:ext cx="1245000" cy="36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40080" y="940000"/>
            <a:ext cx="1125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Student 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0080" y="1150000"/>
            <a:ext cx="1125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21/36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0080" y="16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80080" y="16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80080" y="1650000"/>
            <a:ext cx="82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95080" y="16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40080" y="201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80080" y="203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80080" y="203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5080" y="200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40080" y="239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80080" y="241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80080" y="241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5080" y="238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40080" y="277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80080" y="279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80080" y="279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5080" y="276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40080" y="315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80080" y="317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80080" y="317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5080" y="314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40080" y="35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80080" y="35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480080" y="3550000"/>
            <a:ext cx="27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5080" y="35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450080" y="850000"/>
            <a:ext cx="1245000" cy="36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10080" y="940000"/>
            <a:ext cx="1125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Student 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10080" y="1150000"/>
            <a:ext cx="1125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20/36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10080" y="16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50080" y="16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50080" y="165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65080" y="16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10080" y="201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0080" y="203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0080" y="203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65080" y="200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10080" y="239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50080" y="241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750080" y="241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65080" y="238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10080" y="277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50080" y="279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750080" y="279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65080" y="276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10080" y="315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50080" y="317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750080" y="317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65080" y="314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10080" y="35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750080" y="35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750080" y="355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65080" y="35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720080" y="850000"/>
            <a:ext cx="1245000" cy="36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780080" y="940000"/>
            <a:ext cx="1125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Student 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80080" y="1150000"/>
            <a:ext cx="1125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21/36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80080" y="16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20080" y="16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020080" y="165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35080" y="16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80080" y="201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020080" y="203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020080" y="2030000"/>
            <a:ext cx="275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835080" y="200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80080" y="239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020080" y="241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020080" y="241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35080" y="238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80080" y="277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20080" y="279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020080" y="279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35080" y="276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780080" y="315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020080" y="317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020080" y="3170000"/>
            <a:ext cx="687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835080" y="314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80080" y="35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020080" y="35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20080" y="355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835080" y="35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990080" y="850000"/>
            <a:ext cx="1245000" cy="3600000"/>
          </a:xfrm>
          <a:prstGeom prst="roundRect">
            <a:avLst>
              <a:gd name="adj" fmla="val 8000"/>
            </a:avLst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050080" y="940000"/>
            <a:ext cx="1125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Student F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050080" y="1150000"/>
            <a:ext cx="1125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F6E17"/>
                </a:solidFill>
                <a:latin typeface="Georgia"/>
              </a:rPr>
              <a:t>24/36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50080" y="16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290080" y="16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290080" y="1650000"/>
            <a:ext cx="687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105080" y="16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050080" y="201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290080" y="203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90080" y="203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105080" y="200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50080" y="239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290080" y="241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290080" y="241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05080" y="238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050080" y="277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290080" y="279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290080" y="279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105080" y="276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050080" y="315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U5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290080" y="317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290080" y="3170000"/>
            <a:ext cx="5500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105080" y="314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50080" y="3530000"/>
            <a:ext cx="22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</a:rPr>
              <a:t>U6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290080" y="3550000"/>
            <a:ext cx="825000" cy="13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90080" y="3550000"/>
            <a:ext cx="412500" cy="13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105080" y="3520000"/>
            <a:ext cx="13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So what happens now?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0000" y="330000"/>
            <a:ext cx="105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0000" y="390000"/>
            <a:ext cx="105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000000"/>
            <a:ext cx="500000" cy="50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0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0000" y="102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Georgia"/>
              </a:rPr>
              <a:t>Today, Unit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000" y="1400000"/>
            <a:ext cx="6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Present tenses and stative verbs. Question 1: only 3 of 6 got it. That is exactly what the next six Fridays are for.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150000"/>
            <a:ext cx="500000" cy="50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5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0000" y="217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Georgia"/>
              </a:rPr>
              <a:t>Every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0000" y="2550000"/>
            <a:ext cx="6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When we reach a new unit, look back at its six questions. You will see them get easier.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300000"/>
            <a:ext cx="500000" cy="500000"/>
          </a:xfrm>
          <a:prstGeom prst="ellipse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00000"/>
            <a:ext cx="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0000" y="332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Georgia"/>
              </a:rPr>
              <a:t>June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0000" y="3700000"/>
            <a:ext cx="6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Arial"/>
              </a:rPr>
              <a:t>We climb the ladder again and see how much higher you 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Lucía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0" y="330000"/>
            <a:ext cx="14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0" y="390000"/>
            <a:ext cx="1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80000"/>
            <a:ext cx="3550000" cy="155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80" y="90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80" y="1120000"/>
            <a:ext cx="32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Lucía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80" y="1620000"/>
            <a:ext cx="1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F6E17"/>
                </a:solidFill>
                <a:latin typeface="Georgia"/>
              </a:rPr>
              <a:t>18/36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00000"/>
            <a:ext cx="1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0" y="1120000"/>
            <a:ext cx="1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1: Jump for joy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1 Jump for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0" y="80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0000" y="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1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2 Global culture?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0000" y="1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0000" y="10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0000" y="1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2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3 Role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000" y="13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0000" y="130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0000" y="12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0" y="15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4 City living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0000" y="15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0000" y="15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0000" y="15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1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5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0" y="1800000"/>
            <a:ext cx="5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000" y="1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2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6 Take it 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0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0000" y="2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500000"/>
            <a:ext cx="4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2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1  </a:t>
            </a:r>
            <a:r>
              <a:rPr sz="1200" b="0">
                <a:solidFill>
                  <a:srgbClr val="222222"/>
                </a:solidFill>
                <a:latin typeface="Arial"/>
              </a:rPr>
              <a:t>Nuria is worrying about her results at the moment, though she is normally calm.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0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4  </a:t>
            </a:r>
            <a:r>
              <a:rPr sz="1200" b="0">
                <a:solidFill>
                  <a:srgbClr val="222222"/>
                </a:solidFill>
                <a:latin typeface="Arial"/>
              </a:rPr>
              <a:t>Flats in Ruzafa are getting more expensive every single year.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8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9  </a:t>
            </a:r>
            <a:r>
              <a:rPr sz="1200" b="0">
                <a:solidFill>
                  <a:srgbClr val="222222"/>
                </a:solidFill>
                <a:latin typeface="Arial"/>
              </a:rPr>
              <a:t>She used to hate the mascletà, but now she never misses one.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Marta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0" y="330000"/>
            <a:ext cx="14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0" y="390000"/>
            <a:ext cx="1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80000"/>
            <a:ext cx="3550000" cy="155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80" y="90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80" y="1120000"/>
            <a:ext cx="32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Marta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80" y="1620000"/>
            <a:ext cx="1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F6E17"/>
                </a:solidFill>
                <a:latin typeface="Georgia"/>
              </a:rPr>
              <a:t>20/36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00000"/>
            <a:ext cx="1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0" y="1120000"/>
            <a:ext cx="1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4: City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1 Jump for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0" y="80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0000" y="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1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2 Global culture?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0000" y="1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0000" y="10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0000" y="1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2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3 Role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000" y="13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0000" y="130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0000" y="12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0" y="15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4 City living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0000" y="15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0000" y="155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0000" y="15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1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5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0" y="180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000" y="1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2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6 Take it 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0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0000" y="2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500000"/>
            <a:ext cx="4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2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1  </a:t>
            </a:r>
            <a:r>
              <a:rPr sz="1200" b="0">
                <a:solidFill>
                  <a:srgbClr val="222222"/>
                </a:solidFill>
                <a:latin typeface="Arial"/>
              </a:rPr>
              <a:t>Nuria is worrying about her results at the moment, though she is normally calm.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0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2  </a:t>
            </a:r>
            <a:r>
              <a:rPr sz="1200" b="0">
                <a:solidFill>
                  <a:srgbClr val="222222"/>
                </a:solidFill>
                <a:latin typeface="Arial"/>
              </a:rPr>
              <a:t>Try the horchata in Alboraya. It tastes nothing like the supermarket version.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8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3  </a:t>
            </a:r>
            <a:r>
              <a:rPr sz="1200" b="0">
                <a:solidFill>
                  <a:srgbClr val="222222"/>
                </a:solidFill>
                <a:latin typeface="Arial"/>
              </a:rPr>
              <a:t>Actually, I think you have a point.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Ainhoa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0" y="330000"/>
            <a:ext cx="14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0" y="390000"/>
            <a:ext cx="1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80000"/>
            <a:ext cx="3550000" cy="155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80" y="90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80" y="1120000"/>
            <a:ext cx="32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Ainhoa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80" y="1620000"/>
            <a:ext cx="1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F6E17"/>
                </a:solidFill>
                <a:latin typeface="Georgia"/>
              </a:rPr>
              <a:t>24/36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00000"/>
            <a:ext cx="1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0" y="1120000"/>
            <a:ext cx="1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1: Jump for joy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1 Jump for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0" y="800000"/>
            <a:ext cx="137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0000" y="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1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2 Global culture?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0000" y="1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0000" y="105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0000" y="1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2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3 Role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000" y="13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0000" y="130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0000" y="12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0" y="15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4 City living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0000" y="15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0000" y="155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0000" y="15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1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5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0" y="180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000" y="1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2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6 Take it 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0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0000" y="2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500000"/>
            <a:ext cx="4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2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6  </a:t>
            </a:r>
            <a:r>
              <a:rPr sz="1200" b="0">
                <a:solidFill>
                  <a:srgbClr val="222222"/>
                </a:solidFill>
                <a:latin typeface="Arial"/>
              </a:rPr>
              <a:t>Claudia never changes her mind, however good your argument is. She is very stubborn.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0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8  </a:t>
            </a:r>
            <a:r>
              <a:rPr sz="1200" b="0">
                <a:solidFill>
                  <a:srgbClr val="222222"/>
                </a:solidFill>
                <a:latin typeface="Arial"/>
              </a:rPr>
              <a:t>When I was small, we would spend every March at my grandmother's house for Fallas.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8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11  </a:t>
            </a:r>
            <a:r>
              <a:rPr sz="1200" b="0">
                <a:solidFill>
                  <a:srgbClr val="222222"/>
                </a:solidFill>
                <a:latin typeface="Arial"/>
              </a:rPr>
              <a:t>The ninots are burnt on the final night. It is a ritual that goes back centuries.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Sonia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0" y="330000"/>
            <a:ext cx="14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0" y="390000"/>
            <a:ext cx="1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80000"/>
            <a:ext cx="3550000" cy="155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80" y="90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80" y="1120000"/>
            <a:ext cx="32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Sonia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80" y="1620000"/>
            <a:ext cx="1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F6E17"/>
                </a:solidFill>
                <a:latin typeface="Georgia"/>
              </a:rPr>
              <a:t>21/36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00000"/>
            <a:ext cx="1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0" y="1120000"/>
            <a:ext cx="1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1: Jump for joy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1 Jump for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0000" y="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6/6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1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2 Global culture?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0000" y="1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0000" y="10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0000" y="1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2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3 Role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000" y="13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0000" y="130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0000" y="12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0" y="15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4 City living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0000" y="15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0000" y="15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0000" y="15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1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5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0" y="180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000" y="1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2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6 Take it 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050000"/>
            <a:ext cx="5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0000" y="2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500000"/>
            <a:ext cx="4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2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8  </a:t>
            </a:r>
            <a:r>
              <a:rPr sz="1200" b="0">
                <a:solidFill>
                  <a:srgbClr val="222222"/>
                </a:solidFill>
                <a:latin typeface="Arial"/>
              </a:rPr>
              <a:t>When I was small, we would spend every March at my grandmother's house for Fallas.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0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10  </a:t>
            </a:r>
            <a:r>
              <a:rPr sz="1200" b="0">
                <a:solidFill>
                  <a:srgbClr val="222222"/>
                </a:solidFill>
                <a:latin typeface="Arial"/>
              </a:rPr>
              <a:t>I am used to the noise now, so I sleep straight through it.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8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11  </a:t>
            </a:r>
            <a:r>
              <a:rPr sz="1200" b="0">
                <a:solidFill>
                  <a:srgbClr val="222222"/>
                </a:solidFill>
                <a:latin typeface="Arial"/>
              </a:rPr>
              <a:t>The ninots are burnt on the final night. It is a ritual that goes back centuries.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Elena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0" y="330000"/>
            <a:ext cx="14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0" y="390000"/>
            <a:ext cx="1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80000"/>
            <a:ext cx="3550000" cy="155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80" y="90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80" y="1120000"/>
            <a:ext cx="32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Elena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80" y="1620000"/>
            <a:ext cx="1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F6E17"/>
                </a:solidFill>
                <a:latin typeface="Georgia"/>
              </a:rPr>
              <a:t>21/36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00000"/>
            <a:ext cx="1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0" y="1120000"/>
            <a:ext cx="1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5: Emerging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1 Jump for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0" y="80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0000" y="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1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2 Global culture?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0000" y="1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0000" y="1050000"/>
            <a:ext cx="5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0000" y="1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2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3 Role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000" y="13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0000" y="130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0000" y="12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0" y="15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4 City living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0000" y="15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0000" y="1550000"/>
            <a:ext cx="82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0000" y="15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3/6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1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5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0" y="1800000"/>
            <a:ext cx="137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000" y="1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2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6 Take it 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05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0000" y="2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500000"/>
            <a:ext cx="4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2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1  </a:t>
            </a:r>
            <a:r>
              <a:rPr sz="1200" b="0">
                <a:solidFill>
                  <a:srgbClr val="222222"/>
                </a:solidFill>
                <a:latin typeface="Arial"/>
              </a:rPr>
              <a:t>Nuria is worrying about her results at the moment, though she is normally calm.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0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4  </a:t>
            </a:r>
            <a:r>
              <a:rPr sz="1200" b="0">
                <a:solidFill>
                  <a:srgbClr val="222222"/>
                </a:solidFill>
                <a:latin typeface="Arial"/>
              </a:rPr>
              <a:t>Flats in Ruzafa are getting more expensive every single year.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8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7  </a:t>
            </a:r>
            <a:r>
              <a:rPr sz="1200" b="0">
                <a:solidFill>
                  <a:srgbClr val="222222"/>
                </a:solidFill>
                <a:latin typeface="Arial"/>
              </a:rPr>
              <a:t>While the parade was passing through the Plaza del Ayuntamiento, it started to rain.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00000"/>
            <a:ext cx="60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Georgia"/>
              </a:rPr>
              <a:t>Valeria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0" y="330000"/>
            <a:ext cx="1400000" cy="28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0" y="390000"/>
            <a:ext cx="1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F6E17"/>
                </a:solidFill>
                <a:latin typeface="Arial"/>
              </a:rPr>
              <a:t>PERSONAL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14000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rial"/>
              </a:rPr>
              <a:t>FRIDAY B2  ·  The Level Ladder, 11 Sep 2026  ·  Somerset Language Centre, Valencia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80000"/>
            <a:ext cx="3550000" cy="1550000"/>
          </a:xfrm>
          <a:prstGeom prst="rect">
            <a:avLst/>
          </a:prstGeom>
          <a:solidFill>
            <a:srgbClr val="EA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80" y="900000"/>
            <a:ext cx="32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THIS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80" y="1120000"/>
            <a:ext cx="320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2222"/>
                </a:solidFill>
                <a:latin typeface="Georgia"/>
              </a:rPr>
              <a:t>Valeria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80" y="1620000"/>
            <a:ext cx="1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F6E17"/>
                </a:solidFill>
                <a:latin typeface="Georgia"/>
              </a:rPr>
              <a:t>25/36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900000"/>
            <a:ext cx="19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77777"/>
                </a:solidFill>
                <a:latin typeface="Arial"/>
              </a:rPr>
              <a:t>STRONGEST 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0" y="1120000"/>
            <a:ext cx="1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F6E17"/>
                </a:solidFill>
                <a:latin typeface="Arial"/>
              </a:rPr>
              <a:t>Unit 5: Emerging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1 Jump for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0000" y="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0" y="800000"/>
            <a:ext cx="1375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0000" y="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5/6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000" y="1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2 Global culture?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0000" y="1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0000" y="1050000"/>
            <a:ext cx="5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0000" y="1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0000" y="12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3 Role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0000" y="13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0000" y="1300000"/>
            <a:ext cx="5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0000" y="12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2/6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000" y="15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4 City living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0000" y="15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0000" y="1550000"/>
            <a:ext cx="110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0000" y="15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4/6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178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5 Emerging technologies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0000" y="1800000"/>
            <a:ext cx="16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0000" y="178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6/6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000" y="2030000"/>
            <a:ext cx="21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Unit 6 Take it easy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00000" y="2050000"/>
            <a:ext cx="1650000" cy="170000"/>
          </a:xfrm>
          <a:prstGeom prst="rect">
            <a:avLst/>
          </a:prstGeom>
          <a:solidFill>
            <a:srgbClr val="6BA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0000" y="2030000"/>
            <a:ext cx="34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Arial"/>
              </a:rPr>
              <a:t>6/6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500000"/>
            <a:ext cx="40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Arial"/>
              </a:rPr>
              <a:t>YOUR NEXT THREE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2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5  </a:t>
            </a:r>
            <a:r>
              <a:rPr sz="1200" b="0">
                <a:solidFill>
                  <a:srgbClr val="222222"/>
                </a:solidFill>
                <a:latin typeface="Arial"/>
              </a:rPr>
              <a:t>Teresa went bright red when she forgot her lines on stage. She felt embarrassed.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1,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0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7  </a:t>
            </a:r>
            <a:r>
              <a:rPr sz="1200" b="0">
                <a:solidFill>
                  <a:srgbClr val="222222"/>
                </a:solidFill>
                <a:latin typeface="Arial"/>
              </a:rPr>
              <a:t>While the parade was passing through the Plaza del Ayuntamiento, it started to rain.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780000"/>
            <a:ext cx="786384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6E17"/>
                </a:solidFill>
                <a:latin typeface="Arial"/>
              </a:rPr>
              <a:t>8  </a:t>
            </a:r>
            <a:r>
              <a:rPr sz="1200" b="0">
                <a:solidFill>
                  <a:srgbClr val="222222"/>
                </a:solidFill>
                <a:latin typeface="Arial"/>
              </a:rPr>
              <a:t>When I was small, we would spend every March at my grandmother's house for Fallas.   </a:t>
            </a:r>
            <a:r>
              <a:rPr sz="1100" b="1">
                <a:solidFill>
                  <a:srgbClr val="777777"/>
                </a:solidFill>
                <a:latin typeface="Arial"/>
              </a:rPr>
              <a:t>Unit 2, Nov to Dec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